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e365cb71e4278" /><Relationship Type="http://schemas.openxmlformats.org/officeDocument/2006/relationships/extended-properties" Target="/docProps/app.xml" Id="Rb4bede9c13064418" /><Relationship Type="http://schemas.openxmlformats.org/officeDocument/2006/relationships/officeDocument" Target="/ppt/presentation.xml" Id="R69aa6de973b5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4fc6ac645d4b6e"/>
  </p:sldMasterIdLst>
  <p:notesMasterIdLst>
    <p:notesMasterId xmlns:r="http://schemas.openxmlformats.org/officeDocument/2006/relationships" r:id="R00c240d9d329422f"/>
  </p:notesMasterIdLst>
  <p:sldIdLst>
    <p:sldId xmlns:r="http://schemas.openxmlformats.org/officeDocument/2006/relationships" id="256" r:id="Raaf9547bbd654b67"/>
    <p:sldId xmlns:r="http://schemas.openxmlformats.org/officeDocument/2006/relationships" id="257" r:id="R479c77dd9ff745ae"/>
    <p:sldId xmlns:r="http://schemas.openxmlformats.org/officeDocument/2006/relationships" id="258" r:id="R8a423ec5524147a5"/>
    <p:sldId xmlns:r="http://schemas.openxmlformats.org/officeDocument/2006/relationships" id="259" r:id="R9d84be06573c4d03"/>
    <p:sldId xmlns:r="http://schemas.openxmlformats.org/officeDocument/2006/relationships" id="260" r:id="R8312258429cb4cea"/>
    <p:sldId xmlns:r="http://schemas.openxmlformats.org/officeDocument/2006/relationships" id="261" r:id="R9ff0b4c0c1b942c0"/>
    <p:sldId xmlns:r="http://schemas.openxmlformats.org/officeDocument/2006/relationships" id="262" r:id="Rdda5a95df0c54cde"/>
    <p:sldId xmlns:r="http://schemas.openxmlformats.org/officeDocument/2006/relationships" id="263" r:id="Rf12736ebc2ee49af"/>
    <p:sldId xmlns:r="http://schemas.openxmlformats.org/officeDocument/2006/relationships" id="264" r:id="Rc585526ae78c43e4"/>
    <p:sldId xmlns:r="http://schemas.openxmlformats.org/officeDocument/2006/relationships" id="265" r:id="R3f2584ad23784f0b"/>
    <p:sldId xmlns:r="http://schemas.openxmlformats.org/officeDocument/2006/relationships" id="266" r:id="R11b2469ff2eb4c57"/>
    <p:sldId xmlns:r="http://schemas.openxmlformats.org/officeDocument/2006/relationships" id="267" r:id="R377911abb4b042b8"/>
    <p:sldId xmlns:r="http://schemas.openxmlformats.org/officeDocument/2006/relationships" id="268" r:id="R7a97603b14464416"/>
    <p:sldId xmlns:r="http://schemas.openxmlformats.org/officeDocument/2006/relationships" id="269" r:id="Rab5b606590444b88"/>
    <p:sldId xmlns:r="http://schemas.openxmlformats.org/officeDocument/2006/relationships" id="270" r:id="R016cf516d3dc4f86"/>
    <p:sldId xmlns:r="http://schemas.openxmlformats.org/officeDocument/2006/relationships" id="271" r:id="R2d49bbe5c42246eb"/>
    <p:sldId xmlns:r="http://schemas.openxmlformats.org/officeDocument/2006/relationships" id="272" r:id="Raf22bd6c3c0846ed"/>
    <p:sldId xmlns:r="http://schemas.openxmlformats.org/officeDocument/2006/relationships" id="273" r:id="Rf29e181f8d504dff"/>
    <p:sldId xmlns:r="http://schemas.openxmlformats.org/officeDocument/2006/relationships" id="274" r:id="R68af0c4dca334991"/>
    <p:sldId xmlns:r="http://schemas.openxmlformats.org/officeDocument/2006/relationships" id="275" r:id="Rc839e486f70c4472"/>
    <p:sldId xmlns:r="http://schemas.openxmlformats.org/officeDocument/2006/relationships" id="276" r:id="R5596105a16fb4c1e"/>
    <p:sldId xmlns:r="http://schemas.openxmlformats.org/officeDocument/2006/relationships" id="277" r:id="Ra54270add2ce4a2c"/>
    <p:sldId xmlns:r="http://schemas.openxmlformats.org/officeDocument/2006/relationships" id="278" r:id="Rb12808a994744b85"/>
    <p:sldId xmlns:r="http://schemas.openxmlformats.org/officeDocument/2006/relationships" id="279" r:id="Rd7b90ede28d342b1"/>
    <p:sldId xmlns:r="http://schemas.openxmlformats.org/officeDocument/2006/relationships" id="280" r:id="R31954ef08f8e4720"/>
    <p:sldId xmlns:r="http://schemas.openxmlformats.org/officeDocument/2006/relationships" id="281" r:id="R4e72473ec15e4db7"/>
    <p:sldId xmlns:r="http://schemas.openxmlformats.org/officeDocument/2006/relationships" id="282" r:id="Rd8a825ddea50438c"/>
    <p:sldId xmlns:r="http://schemas.openxmlformats.org/officeDocument/2006/relationships" id="283" r:id="Rdf9af8ef9c7b44f5"/>
    <p:sldId xmlns:r="http://schemas.openxmlformats.org/officeDocument/2006/relationships" id="284" r:id="Rdf3a0cc436db450a"/>
    <p:sldId xmlns:r="http://schemas.openxmlformats.org/officeDocument/2006/relationships" id="285" r:id="R5bf0538c38f74d22"/>
    <p:sldId xmlns:r="http://schemas.openxmlformats.org/officeDocument/2006/relationships" id="286" r:id="R5d1116da3deb4673"/>
    <p:sldId xmlns:r="http://schemas.openxmlformats.org/officeDocument/2006/relationships" id="287" r:id="R11ae0650b0a84253"/>
    <p:sldId xmlns:r="http://schemas.openxmlformats.org/officeDocument/2006/relationships" id="288" r:id="R4966be5f54044b05"/>
    <p:sldId xmlns:r="http://schemas.openxmlformats.org/officeDocument/2006/relationships" id="289" r:id="R8ad01b5d7c554ed0"/>
    <p:sldId xmlns:r="http://schemas.openxmlformats.org/officeDocument/2006/relationships" id="290" r:id="R2b480853cc384d19"/>
    <p:sldId xmlns:r="http://schemas.openxmlformats.org/officeDocument/2006/relationships" id="291" r:id="Rcba51363bc204aa7"/>
    <p:sldId xmlns:r="http://schemas.openxmlformats.org/officeDocument/2006/relationships" id="292" r:id="R24fa5ad8b77c49df"/>
    <p:sldId xmlns:r="http://schemas.openxmlformats.org/officeDocument/2006/relationships" id="293" r:id="R33dcc186d2054d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86ea3bbea4d58" /><Relationship Type="http://schemas.openxmlformats.org/officeDocument/2006/relationships/slideMaster" Target="/ppt/slideMasters/slideMaster1.xml" Id="Rc44fc6ac645d4b6e" /><Relationship Type="http://schemas.openxmlformats.org/officeDocument/2006/relationships/notesMaster" Target="/ppt/notesMasters/notesMaster1.xml" Id="R00c240d9d329422f" /><Relationship Type="http://schemas.openxmlformats.org/officeDocument/2006/relationships/presProps" Target="/ppt/presProps.xml" Id="Rdc272f0749a44e97" /><Relationship Type="http://schemas.openxmlformats.org/officeDocument/2006/relationships/tableStyles" Target="/ppt/tableStyles.xml" Id="R33862f36b6654c42" /><Relationship Type="http://schemas.openxmlformats.org/officeDocument/2006/relationships/slide" Target="/ppt/slides/slide1.xml" Id="Raaf9547bbd654b67" /><Relationship Type="http://schemas.openxmlformats.org/officeDocument/2006/relationships/slide" Target="/ppt/slides/slide2.xml" Id="R479c77dd9ff745ae" /><Relationship Type="http://schemas.openxmlformats.org/officeDocument/2006/relationships/slide" Target="/ppt/slides/slide3.xml" Id="R8a423ec5524147a5" /><Relationship Type="http://schemas.openxmlformats.org/officeDocument/2006/relationships/slide" Target="/ppt/slides/slide4.xml" Id="R9d84be06573c4d03" /><Relationship Type="http://schemas.openxmlformats.org/officeDocument/2006/relationships/slide" Target="/ppt/slides/slide5.xml" Id="R8312258429cb4cea" /><Relationship Type="http://schemas.openxmlformats.org/officeDocument/2006/relationships/slide" Target="/ppt/slides/slide6.xml" Id="R9ff0b4c0c1b942c0" /><Relationship Type="http://schemas.openxmlformats.org/officeDocument/2006/relationships/slide" Target="/ppt/slides/slide7.xml" Id="Rdda5a95df0c54cde" /><Relationship Type="http://schemas.openxmlformats.org/officeDocument/2006/relationships/slide" Target="/ppt/slides/slide8.xml" Id="Rf12736ebc2ee49af" /><Relationship Type="http://schemas.openxmlformats.org/officeDocument/2006/relationships/slide" Target="/ppt/slides/slide9.xml" Id="Rc585526ae78c43e4" /><Relationship Type="http://schemas.openxmlformats.org/officeDocument/2006/relationships/slide" Target="/ppt/slides/slide10.xml" Id="R3f2584ad23784f0b" /><Relationship Type="http://schemas.openxmlformats.org/officeDocument/2006/relationships/slide" Target="/ppt/slides/slide11.xml" Id="R11b2469ff2eb4c57" /><Relationship Type="http://schemas.openxmlformats.org/officeDocument/2006/relationships/slide" Target="/ppt/slides/slide12.xml" Id="R377911abb4b042b8" /><Relationship Type="http://schemas.openxmlformats.org/officeDocument/2006/relationships/slide" Target="/ppt/slides/slide13.xml" Id="R7a97603b14464416" /><Relationship Type="http://schemas.openxmlformats.org/officeDocument/2006/relationships/slide" Target="/ppt/slides/slide14.xml" Id="Rab5b606590444b88" /><Relationship Type="http://schemas.openxmlformats.org/officeDocument/2006/relationships/slide" Target="/ppt/slides/slide15.xml" Id="R016cf516d3dc4f86" /><Relationship Type="http://schemas.openxmlformats.org/officeDocument/2006/relationships/slide" Target="/ppt/slides/slide16.xml" Id="R2d49bbe5c42246eb" /><Relationship Type="http://schemas.openxmlformats.org/officeDocument/2006/relationships/slide" Target="/ppt/slides/slide17.xml" Id="Raf22bd6c3c0846ed" /><Relationship Type="http://schemas.openxmlformats.org/officeDocument/2006/relationships/slide" Target="/ppt/slides/slide18.xml" Id="Rf29e181f8d504dff" /><Relationship Type="http://schemas.openxmlformats.org/officeDocument/2006/relationships/slide" Target="/ppt/slides/slide19.xml" Id="R68af0c4dca334991" /><Relationship Type="http://schemas.openxmlformats.org/officeDocument/2006/relationships/slide" Target="/ppt/slides/slide20.xml" Id="Rc839e486f70c4472" /><Relationship Type="http://schemas.openxmlformats.org/officeDocument/2006/relationships/slide" Target="/ppt/slides/slide21.xml" Id="R5596105a16fb4c1e" /><Relationship Type="http://schemas.openxmlformats.org/officeDocument/2006/relationships/slide" Target="/ppt/slides/slide22.xml" Id="Ra54270add2ce4a2c" /><Relationship Type="http://schemas.openxmlformats.org/officeDocument/2006/relationships/slide" Target="/ppt/slides/slide23.xml" Id="Rb12808a994744b85" /><Relationship Type="http://schemas.openxmlformats.org/officeDocument/2006/relationships/slide" Target="/ppt/slides/slide24.xml" Id="Rd7b90ede28d342b1" /><Relationship Type="http://schemas.openxmlformats.org/officeDocument/2006/relationships/slide" Target="/ppt/slides/slide25.xml" Id="R31954ef08f8e4720" /><Relationship Type="http://schemas.openxmlformats.org/officeDocument/2006/relationships/slide" Target="/ppt/slides/slide26.xml" Id="R4e72473ec15e4db7" /><Relationship Type="http://schemas.openxmlformats.org/officeDocument/2006/relationships/slide" Target="/ppt/slides/slide27.xml" Id="Rd8a825ddea50438c" /><Relationship Type="http://schemas.openxmlformats.org/officeDocument/2006/relationships/slide" Target="/ppt/slides/slide28.xml" Id="Rdf9af8ef9c7b44f5" /><Relationship Type="http://schemas.openxmlformats.org/officeDocument/2006/relationships/slide" Target="/ppt/slides/slide29.xml" Id="Rdf3a0cc436db450a" /><Relationship Type="http://schemas.openxmlformats.org/officeDocument/2006/relationships/slide" Target="/ppt/slides/slide30.xml" Id="R5bf0538c38f74d22" /><Relationship Type="http://schemas.openxmlformats.org/officeDocument/2006/relationships/slide" Target="/ppt/slides/slide31.xml" Id="R5d1116da3deb4673" /><Relationship Type="http://schemas.openxmlformats.org/officeDocument/2006/relationships/slide" Target="/ppt/slides/slide32.xml" Id="R11ae0650b0a84253" /><Relationship Type="http://schemas.openxmlformats.org/officeDocument/2006/relationships/slide" Target="/ppt/slides/slide33.xml" Id="R4966be5f54044b05" /><Relationship Type="http://schemas.openxmlformats.org/officeDocument/2006/relationships/slide" Target="/ppt/slides/slide34.xml" Id="R8ad01b5d7c554ed0" /><Relationship Type="http://schemas.openxmlformats.org/officeDocument/2006/relationships/slide" Target="/ppt/slides/slide35.xml" Id="R2b480853cc384d19" /><Relationship Type="http://schemas.openxmlformats.org/officeDocument/2006/relationships/slide" Target="/ppt/slides/slide36.xml" Id="Rcba51363bc204aa7" /><Relationship Type="http://schemas.openxmlformats.org/officeDocument/2006/relationships/slide" Target="/ppt/slides/slide37.xml" Id="R24fa5ad8b77c49df" /><Relationship Type="http://schemas.openxmlformats.org/officeDocument/2006/relationships/slide" Target="/ppt/slides/slide38.xml" Id="R33dcc186d2054d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6cf82130b4e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3b02be3794adf" /><Relationship Type="http://schemas.openxmlformats.org/officeDocument/2006/relationships/notesMaster" Target="/ppt/notesMasters/notesMaster1.xml" Id="Rdc60dc37ac8c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08be59892b4770" /><Relationship Type="http://schemas.openxmlformats.org/officeDocument/2006/relationships/notesMaster" Target="/ppt/notesMasters/notesMaster1.xml" Id="R67ef7f27494b42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2b61c1a63e4a00" /><Relationship Type="http://schemas.openxmlformats.org/officeDocument/2006/relationships/notesMaster" Target="/ppt/notesMasters/notesMaster1.xml" Id="R1bdba27655f5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78e71f9fd248d4" /><Relationship Type="http://schemas.openxmlformats.org/officeDocument/2006/relationships/notesMaster" Target="/ppt/notesMasters/notesMaster1.xml" Id="Rad662757604347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4307c207644f0" /><Relationship Type="http://schemas.openxmlformats.org/officeDocument/2006/relationships/notesMaster" Target="/ppt/notesMasters/notesMaster1.xml" Id="R35889f1c0fc64a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073cc426f4099" /><Relationship Type="http://schemas.openxmlformats.org/officeDocument/2006/relationships/notesMaster" Target="/ppt/notesMasters/notesMaster1.xml" Id="R58417767c9bf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3c814e62cf4d71" /><Relationship Type="http://schemas.openxmlformats.org/officeDocument/2006/relationships/notesMaster" Target="/ppt/notesMasters/notesMaster1.xml" Id="R56c1a5ddec3148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a143a341274a43" /><Relationship Type="http://schemas.openxmlformats.org/officeDocument/2006/relationships/notesMaster" Target="/ppt/notesMasters/notesMaster1.xml" Id="Rb7984979305e42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0ac06cab8f4b4e" /><Relationship Type="http://schemas.openxmlformats.org/officeDocument/2006/relationships/notesMaster" Target="/ppt/notesMasters/notesMaster1.xml" Id="R274b9f66368448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7617ecbbbb4e24" /><Relationship Type="http://schemas.openxmlformats.org/officeDocument/2006/relationships/notesMaster" Target="/ppt/notesMasters/notesMaster1.xml" Id="R21ed790b887243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d3eb2afb17411f" /><Relationship Type="http://schemas.openxmlformats.org/officeDocument/2006/relationships/notesMaster" Target="/ppt/notesMasters/notesMaster1.xml" Id="Ra550feb5f85d4b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50b26b2f9d48fb" /><Relationship Type="http://schemas.openxmlformats.org/officeDocument/2006/relationships/notesMaster" Target="/ppt/notesMasters/notesMaster1.xml" Id="R5aa2aa89a6c742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5748242a0347fc" /><Relationship Type="http://schemas.openxmlformats.org/officeDocument/2006/relationships/notesMaster" Target="/ppt/notesMasters/notesMaster1.xml" Id="R20e7b749c2af46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968c9fd54e434f" /><Relationship Type="http://schemas.openxmlformats.org/officeDocument/2006/relationships/notesMaster" Target="/ppt/notesMasters/notesMaster1.xml" Id="Rc55e82069f674d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d4f843cbfb4d0d" /><Relationship Type="http://schemas.openxmlformats.org/officeDocument/2006/relationships/notesMaster" Target="/ppt/notesMasters/notesMaster1.xml" Id="R5ca0955719704d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f5a30f379b44c3" /><Relationship Type="http://schemas.openxmlformats.org/officeDocument/2006/relationships/notesMaster" Target="/ppt/notesMasters/notesMaster1.xml" Id="Rc244e99412a448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07ae3c1f054e07" /><Relationship Type="http://schemas.openxmlformats.org/officeDocument/2006/relationships/notesMaster" Target="/ppt/notesMasters/notesMaster1.xml" Id="R90a77ceabc0042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852409ad31457b" /><Relationship Type="http://schemas.openxmlformats.org/officeDocument/2006/relationships/notesMaster" Target="/ppt/notesMasters/notesMaster1.xml" Id="Rdd036298a02546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8e1e008b504bb8" /><Relationship Type="http://schemas.openxmlformats.org/officeDocument/2006/relationships/notesMaster" Target="/ppt/notesMasters/notesMaster1.xml" Id="R3a966e21719440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16e65dac5a4416" /><Relationship Type="http://schemas.openxmlformats.org/officeDocument/2006/relationships/notesMaster" Target="/ppt/notesMasters/notesMaster1.xml" Id="Ra65c2a3b62ab48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fd3cafc42ee4b2f" /><Relationship Type="http://schemas.openxmlformats.org/officeDocument/2006/relationships/notesMaster" Target="/ppt/notesMasters/notesMaster1.xml" Id="Rd4901c5f9aae41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a6955dc959d4655" /><Relationship Type="http://schemas.openxmlformats.org/officeDocument/2006/relationships/notesMaster" Target="/ppt/notesMasters/notesMaster1.xml" Id="R569a24d6484849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edef3fd5d44d11" /><Relationship Type="http://schemas.openxmlformats.org/officeDocument/2006/relationships/notesMaster" Target="/ppt/notesMasters/notesMaster1.xml" Id="Rae65a5d818af47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48418e88314d3e" /><Relationship Type="http://schemas.openxmlformats.org/officeDocument/2006/relationships/notesMaster" Target="/ppt/notesMasters/notesMaster1.xml" Id="R9d2f60e28e7347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32327180d44f4d" /><Relationship Type="http://schemas.openxmlformats.org/officeDocument/2006/relationships/notesMaster" Target="/ppt/notesMasters/notesMaster1.xml" Id="R56c1480f072e45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7993a106cb46a5" /><Relationship Type="http://schemas.openxmlformats.org/officeDocument/2006/relationships/notesMaster" Target="/ppt/notesMasters/notesMaster1.xml" Id="R74ba874814a640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051245b10148ed" /><Relationship Type="http://schemas.openxmlformats.org/officeDocument/2006/relationships/notesMaster" Target="/ppt/notesMasters/notesMaster1.xml" Id="Raa4d564caa4f403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bfb52a51f74194" /><Relationship Type="http://schemas.openxmlformats.org/officeDocument/2006/relationships/notesMaster" Target="/ppt/notesMasters/notesMaster1.xml" Id="R920fc5b57cb24f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b41a5600514454d" /><Relationship Type="http://schemas.openxmlformats.org/officeDocument/2006/relationships/notesMaster" Target="/ppt/notesMasters/notesMaster1.xml" Id="R04759f163a76417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3844362596486a" /><Relationship Type="http://schemas.openxmlformats.org/officeDocument/2006/relationships/notesMaster" Target="/ppt/notesMasters/notesMaster1.xml" Id="Rd080266bb0f84c2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08e8848d6a4229" /><Relationship Type="http://schemas.openxmlformats.org/officeDocument/2006/relationships/notesMaster" Target="/ppt/notesMasters/notesMaster1.xml" Id="R378e18e720644ff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1c2171219074593" /><Relationship Type="http://schemas.openxmlformats.org/officeDocument/2006/relationships/notesMaster" Target="/ppt/notesMasters/notesMaster1.xml" Id="R3164b4c09a7644c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6e6b8ddde348e2" /><Relationship Type="http://schemas.openxmlformats.org/officeDocument/2006/relationships/notesMaster" Target="/ppt/notesMasters/notesMaster1.xml" Id="R58f154b89fd34b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260b2e76754d4f" /><Relationship Type="http://schemas.openxmlformats.org/officeDocument/2006/relationships/notesMaster" Target="/ppt/notesMasters/notesMaster1.xml" Id="Rcf4f85297115485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53ce7e2d522406d" /><Relationship Type="http://schemas.openxmlformats.org/officeDocument/2006/relationships/notesMaster" Target="/ppt/notesMasters/notesMaster1.xml" Id="Rc91dc6e6b3294d9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062933401ac42ae" /><Relationship Type="http://schemas.openxmlformats.org/officeDocument/2006/relationships/notesMaster" Target="/ppt/notesMasters/notesMaster1.xml" Id="R7e7186e4e11c4e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8b259e54b0444c8" /><Relationship Type="http://schemas.openxmlformats.org/officeDocument/2006/relationships/notesMaster" Target="/ppt/notesMasters/notesMaster1.xml" Id="R227d66f2e8c04c0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a1ed1320f84b44" /><Relationship Type="http://schemas.openxmlformats.org/officeDocument/2006/relationships/notesMaster" Target="/ppt/notesMasters/notesMaster1.xml" Id="Rcc8cfdbbddf840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9f6636cb8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d36621827a4c7d" /><Relationship Type="http://schemas.openxmlformats.org/officeDocument/2006/relationships/slideLayout" Target="/ppt/slideLayouts/slideLayout1.xml" Id="R54e3380e345b4a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3380e345b4a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c416ab40d49d3" /><Relationship Type="http://schemas.openxmlformats.org/officeDocument/2006/relationships/image" Target="/ppt/media/image.png" Id="R02b1f669cff9409b" /><Relationship Type="http://schemas.openxmlformats.org/officeDocument/2006/relationships/notesSlide" Target="/ppt/notesSlides/notesSlide1.xml" Id="R26c9e4df6fac41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b31fb334e49d9" /><Relationship Type="http://schemas.openxmlformats.org/officeDocument/2006/relationships/image" Target="/ppt/media/image2.png" Id="R3be13273badf446f" /><Relationship Type="http://schemas.openxmlformats.org/officeDocument/2006/relationships/notesSlide" Target="/ppt/notesSlides/notesSlide2.xml" Id="Rf0aece8069df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a154fd30f46ee" /><Relationship Type="http://schemas.openxmlformats.org/officeDocument/2006/relationships/image" Target="/ppt/media/image3.png" Id="R53cfd168383f4411" /><Relationship Type="http://schemas.openxmlformats.org/officeDocument/2006/relationships/notesSlide" Target="/ppt/notesSlides/notesSlide3.xml" Id="R7c2ccc1c93bd4b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38196976e4d13" /><Relationship Type="http://schemas.openxmlformats.org/officeDocument/2006/relationships/image" Target="/ppt/media/image4.png" Id="Rbb975fbf95ba4642" /><Relationship Type="http://schemas.openxmlformats.org/officeDocument/2006/relationships/notesSlide" Target="/ppt/notesSlides/notesSlide4.xml" Id="R6afe283190dd4b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95bd81574338" /><Relationship Type="http://schemas.openxmlformats.org/officeDocument/2006/relationships/image" Target="/ppt/media/image5.png" Id="R4b948428563b40f3" /><Relationship Type="http://schemas.openxmlformats.org/officeDocument/2006/relationships/notesSlide" Target="/ppt/notesSlides/notesSlide5.xml" Id="Ra2997b66123a4e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29e1deb584f8d" /><Relationship Type="http://schemas.openxmlformats.org/officeDocument/2006/relationships/image" Target="/ppt/media/image6.png" Id="R988228c06c894797" /><Relationship Type="http://schemas.openxmlformats.org/officeDocument/2006/relationships/notesSlide" Target="/ppt/notesSlides/notesSlide6.xml" Id="Rf2f23dcefa2346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0e44187114a03" /><Relationship Type="http://schemas.openxmlformats.org/officeDocument/2006/relationships/image" Target="/ppt/media/image7.png" Id="R3482d660da2e415a" /><Relationship Type="http://schemas.openxmlformats.org/officeDocument/2006/relationships/notesSlide" Target="/ppt/notesSlides/notesSlide7.xml" Id="Rc70301dd24f049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756d45a22450d" /><Relationship Type="http://schemas.openxmlformats.org/officeDocument/2006/relationships/image" Target="/ppt/media/image8.png" Id="Rd03c45a21dcd474f" /><Relationship Type="http://schemas.openxmlformats.org/officeDocument/2006/relationships/notesSlide" Target="/ppt/notesSlides/notesSlide8.xml" Id="Rd84b67daf77b47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c4d5a257e4804" /><Relationship Type="http://schemas.openxmlformats.org/officeDocument/2006/relationships/image" Target="/ppt/media/image9.png" Id="Rcba2d096b13c4bf7" /><Relationship Type="http://schemas.openxmlformats.org/officeDocument/2006/relationships/notesSlide" Target="/ppt/notesSlides/notesSlide9.xml" Id="R39951395668e4a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6c32291714d65" /><Relationship Type="http://schemas.openxmlformats.org/officeDocument/2006/relationships/image" Target="/ppt/media/image10.png" Id="R7ec7f6db380b4298" /><Relationship Type="http://schemas.openxmlformats.org/officeDocument/2006/relationships/notesSlide" Target="/ppt/notesSlides/notesSlide10.xml" Id="R1808efef072249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dc63ba2ca4fab" /><Relationship Type="http://schemas.openxmlformats.org/officeDocument/2006/relationships/image" Target="/ppt/media/image11.png" Id="R1d60fa18289b4a71" /><Relationship Type="http://schemas.openxmlformats.org/officeDocument/2006/relationships/notesSlide" Target="/ppt/notesSlides/notesSlide11.xml" Id="R888cb540b3154c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794e740794aab" /><Relationship Type="http://schemas.openxmlformats.org/officeDocument/2006/relationships/image" Target="/ppt/media/image12.png" Id="Rfb22fe4a2cdd4a65" /><Relationship Type="http://schemas.openxmlformats.org/officeDocument/2006/relationships/notesSlide" Target="/ppt/notesSlides/notesSlide12.xml" Id="Rbff16a90c49147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61558346847d1" /><Relationship Type="http://schemas.openxmlformats.org/officeDocument/2006/relationships/image" Target="/ppt/media/image13.png" Id="R0a50f75528304aa2" /><Relationship Type="http://schemas.openxmlformats.org/officeDocument/2006/relationships/notesSlide" Target="/ppt/notesSlides/notesSlide13.xml" Id="Rbcec67a1a13845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fc3c19d924817" /><Relationship Type="http://schemas.openxmlformats.org/officeDocument/2006/relationships/image" Target="/ppt/media/image14.png" Id="Rffe66d66fc7f4967" /><Relationship Type="http://schemas.openxmlformats.org/officeDocument/2006/relationships/notesSlide" Target="/ppt/notesSlides/notesSlide14.xml" Id="Rf31ef6f5221f43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b093190c64012" /><Relationship Type="http://schemas.openxmlformats.org/officeDocument/2006/relationships/image" Target="/ppt/media/image15.png" Id="R2785e57aad104013" /><Relationship Type="http://schemas.openxmlformats.org/officeDocument/2006/relationships/notesSlide" Target="/ppt/notesSlides/notesSlide15.xml" Id="Rca559bd25fbb44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6999ba7714e87" /><Relationship Type="http://schemas.openxmlformats.org/officeDocument/2006/relationships/image" Target="/ppt/media/image16.png" Id="Ra2b379b76021417e" /><Relationship Type="http://schemas.openxmlformats.org/officeDocument/2006/relationships/notesSlide" Target="/ppt/notesSlides/notesSlide16.xml" Id="R3701a55ae5634f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1f988430447cf" /><Relationship Type="http://schemas.openxmlformats.org/officeDocument/2006/relationships/image" Target="/ppt/media/image17.png" Id="R83ff674847eb46dd" /><Relationship Type="http://schemas.openxmlformats.org/officeDocument/2006/relationships/notesSlide" Target="/ppt/notesSlides/notesSlide17.xml" Id="R3323a737cdd648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2330db3ec483d" /><Relationship Type="http://schemas.openxmlformats.org/officeDocument/2006/relationships/image" Target="/ppt/media/image18.png" Id="Rdb9c03884bed4b5e" /><Relationship Type="http://schemas.openxmlformats.org/officeDocument/2006/relationships/notesSlide" Target="/ppt/notesSlides/notesSlide18.xml" Id="R2f755fe04a394e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c8aa2aecb477c" /><Relationship Type="http://schemas.openxmlformats.org/officeDocument/2006/relationships/image" Target="/ppt/media/image19.png" Id="Re489e4ac51044904" /><Relationship Type="http://schemas.openxmlformats.org/officeDocument/2006/relationships/notesSlide" Target="/ppt/notesSlides/notesSlide19.xml" Id="R233f3c0466394e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f0479c2c94df0" /><Relationship Type="http://schemas.openxmlformats.org/officeDocument/2006/relationships/image" Target="/ppt/media/image20.png" Id="Rcf784ef2c19d4b55" /><Relationship Type="http://schemas.openxmlformats.org/officeDocument/2006/relationships/notesSlide" Target="/ppt/notesSlides/notesSlide20.xml" Id="R37c72891cbf749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8abc54dd749e8" /><Relationship Type="http://schemas.openxmlformats.org/officeDocument/2006/relationships/image" Target="/ppt/media/image21.png" Id="Rc6f9bc91e5ac456e" /><Relationship Type="http://schemas.openxmlformats.org/officeDocument/2006/relationships/notesSlide" Target="/ppt/notesSlides/notesSlide21.xml" Id="R6c3912ba247e4f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db324a0134850" /><Relationship Type="http://schemas.openxmlformats.org/officeDocument/2006/relationships/image" Target="/ppt/media/image22.png" Id="R8fd27cc7b4a7454b" /><Relationship Type="http://schemas.openxmlformats.org/officeDocument/2006/relationships/notesSlide" Target="/ppt/notesSlides/notesSlide22.xml" Id="R80289443978f489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ef7d5e8b34a28" /><Relationship Type="http://schemas.openxmlformats.org/officeDocument/2006/relationships/image" Target="/ppt/media/image23.png" Id="R90991e3a1aeb4bea" /><Relationship Type="http://schemas.openxmlformats.org/officeDocument/2006/relationships/notesSlide" Target="/ppt/notesSlides/notesSlide23.xml" Id="R9cfd26eb5f4641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b2c3d33e24259" /><Relationship Type="http://schemas.openxmlformats.org/officeDocument/2006/relationships/image" Target="/ppt/media/image24.png" Id="Re45c4b2c48df4659" /><Relationship Type="http://schemas.openxmlformats.org/officeDocument/2006/relationships/notesSlide" Target="/ppt/notesSlides/notesSlide24.xml" Id="Rabf6bebfc1d341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edcb2e7384421" /><Relationship Type="http://schemas.openxmlformats.org/officeDocument/2006/relationships/image" Target="/ppt/media/image25.png" Id="R5f1007936dc34de6" /><Relationship Type="http://schemas.openxmlformats.org/officeDocument/2006/relationships/notesSlide" Target="/ppt/notesSlides/notesSlide25.xml" Id="R259989af36ec43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bbff572ad447f" /><Relationship Type="http://schemas.openxmlformats.org/officeDocument/2006/relationships/image" Target="/ppt/media/image26.png" Id="Rea21e323e0b14b65" /><Relationship Type="http://schemas.openxmlformats.org/officeDocument/2006/relationships/notesSlide" Target="/ppt/notesSlides/notesSlide26.xml" Id="R6e5b7156ac5846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e7e80863e4a94" /><Relationship Type="http://schemas.openxmlformats.org/officeDocument/2006/relationships/image" Target="/ppt/media/image27.png" Id="Rfac2191040024e9c" /><Relationship Type="http://schemas.openxmlformats.org/officeDocument/2006/relationships/notesSlide" Target="/ppt/notesSlides/notesSlide27.xml" Id="Rd9cee01789554d8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ccea7c22d49b0" /><Relationship Type="http://schemas.openxmlformats.org/officeDocument/2006/relationships/image" Target="/ppt/media/image28.png" Id="Rf09235b599d644ac" /><Relationship Type="http://schemas.openxmlformats.org/officeDocument/2006/relationships/notesSlide" Target="/ppt/notesSlides/notesSlide28.xml" Id="R98b0df9313834b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6550f4ce24c21" /><Relationship Type="http://schemas.openxmlformats.org/officeDocument/2006/relationships/image" Target="/ppt/media/image29.png" Id="R42ca8215d8e74656" /><Relationship Type="http://schemas.openxmlformats.org/officeDocument/2006/relationships/notesSlide" Target="/ppt/notesSlides/notesSlide29.xml" Id="Rb836e106b56048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830a42f294758" /><Relationship Type="http://schemas.openxmlformats.org/officeDocument/2006/relationships/image" Target="/ppt/media/image30.png" Id="R389a153d33424f02" /><Relationship Type="http://schemas.openxmlformats.org/officeDocument/2006/relationships/notesSlide" Target="/ppt/notesSlides/notesSlide30.xml" Id="Rcfa279a3c98b49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f463ee45047f2" /><Relationship Type="http://schemas.openxmlformats.org/officeDocument/2006/relationships/image" Target="/ppt/media/image31.png" Id="R46a7b801a64244f4" /><Relationship Type="http://schemas.openxmlformats.org/officeDocument/2006/relationships/notesSlide" Target="/ppt/notesSlides/notesSlide31.xml" Id="R086f38305e2646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4e2c7ff754017" /><Relationship Type="http://schemas.openxmlformats.org/officeDocument/2006/relationships/image" Target="/ppt/media/image32.png" Id="R50500b171bf7407f" /><Relationship Type="http://schemas.openxmlformats.org/officeDocument/2006/relationships/notesSlide" Target="/ppt/notesSlides/notesSlide32.xml" Id="R0971f34b830f476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85d61ff934415" /><Relationship Type="http://schemas.openxmlformats.org/officeDocument/2006/relationships/image" Target="/ppt/media/image33.png" Id="R87bad5b8816a4163" /><Relationship Type="http://schemas.openxmlformats.org/officeDocument/2006/relationships/notesSlide" Target="/ppt/notesSlides/notesSlide33.xml" Id="R72887cb7839f4b7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1be637b8048de" /><Relationship Type="http://schemas.openxmlformats.org/officeDocument/2006/relationships/image" Target="/ppt/media/image34.png" Id="R08c578f5a3dd4a3c" /><Relationship Type="http://schemas.openxmlformats.org/officeDocument/2006/relationships/notesSlide" Target="/ppt/notesSlides/notesSlide34.xml" Id="R461b9da692744d9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0f38ab8304abd" /><Relationship Type="http://schemas.openxmlformats.org/officeDocument/2006/relationships/image" Target="/ppt/media/image35.png" Id="Rafda60833d014804" /><Relationship Type="http://schemas.openxmlformats.org/officeDocument/2006/relationships/notesSlide" Target="/ppt/notesSlides/notesSlide35.xml" Id="Rd777eca3f9fa4e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f5b8ceb15496d" /><Relationship Type="http://schemas.openxmlformats.org/officeDocument/2006/relationships/image" Target="/ppt/media/image36.png" Id="R8f9a15b001e14837" /><Relationship Type="http://schemas.openxmlformats.org/officeDocument/2006/relationships/notesSlide" Target="/ppt/notesSlides/notesSlide36.xml" Id="R25455d45968147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a0cf316a45f5" /><Relationship Type="http://schemas.openxmlformats.org/officeDocument/2006/relationships/image" Target="/ppt/media/image37.png" Id="R126d3d9c5f4b4a19" /><Relationship Type="http://schemas.openxmlformats.org/officeDocument/2006/relationships/notesSlide" Target="/ppt/notesSlides/notesSlide37.xml" Id="R7dabcd6d32494d9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f8cded6144d2d" /><Relationship Type="http://schemas.openxmlformats.org/officeDocument/2006/relationships/image" Target="/ppt/media/image38.png" Id="R58b3a58abac14a4d" /><Relationship Type="http://schemas.openxmlformats.org/officeDocument/2006/relationships/notesSlide" Target="/ppt/notesSlides/notesSlide38.xml" Id="R399c520e292245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1f669cff9409b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8FB58-29B2-4138-A661-C9104656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9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D4C37-98F5-4880-BDC5-B9C4079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A9111-3FF2-4F9A-82F5-5647882A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DOCUMENTAÇÃO VISUAL • CODAY 2026.1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E481F-7FC4-43A0-86CD-94FCF05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Conecta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D1480-6AC9-4A52-8EF8-1151471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Aprendizado, prática, currículo e recrutamento em uma jornada conectada.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40CE2-FA20-449F-8A5B-EBB5D62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produto organiza a evolução do aluno desde o diagnóstico inicial até a candidatura e oferece à empresa contexto para publicar vagas melhores e analisar evidências reais.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AC264-2F3C-45F9-BD46-AD71038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71625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CBEDB-072B-40EC-A838-B96958E6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14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1FDDA-4C63-45B5-9A9C-20E77F3B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765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Composição visual: página Coday + painel do aluno + área da empresa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7B553-7386-49CE-8C3C-DBA12A83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FA314-7CD8-4F76-9ADC-787EACE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MENSAGEM CENTRAL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350FC-13D2-4D2A-8907-06C60DB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Regras decidem. Evidências fortalecem. A IA explica e melhora a comunicação.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2A15F-9F63-4CEA-AC4A-A763D22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40759-CBFE-4633-A536-31A8C3E7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0955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7D89C-1834-439C-9AEF-740986F6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34433-B41A-43DB-A417-AE427454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PROBLEMA E SOLUÇÃO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13273badf446f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B467D-0D11-48B2-B028-BBD54EF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7D213-D7F0-4F4C-BF1D-E414B705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Uma ponte entre formação e empregabilidade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DE9F4-61AE-47F6-BB83-B6B77835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Trilum integra etapas que normalmente ficam fragmentadas em diferentes ferramentas.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83077-E266-40D3-931E-76F31D1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E6CFE-4932-49CD-B031-4AC5282F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1F806-769D-426D-8908-D53383B3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Antes: decisões sem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52DFC-0870-4CBE-B7D9-37B9D11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Alunos encontram catálogos extensos, constroem currículos desconectados do aprendizado e enviam candidaturas sem entender lacunas. Empresas recebem perfis genéricos, pouca evidência prática e informações difíceis de comparar.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379B8-42DC-46E0-A7A2-0AB98611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44378-440D-4150-965D-6B87CB0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0E343-FD0F-444C-AE76-E1A5902C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Depois: evolução orientada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6ED0C-19B6-4944-8347-1B2E8E0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wizard gera prioridades, trilhas organizam a progressão, projetos transformam estudo em evidência, o radar mostra o que fortalecer e o retorno da empresa alimenta o próximo passo do aluno.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2062F-DFAF-457C-8404-8CA11F8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63C38-96A1-49B4-80AB-64456A23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C3BEE-18B9-4C85-87A5-B21DBE47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31A14-0AC2-43F3-896A-0D227B0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Cada ação produz um resultado compreensível, revisável e útil para a etapa seguinte.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AE82D-ADA2-4B6F-ABC4-F70A399A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2056D-9C14-4DF7-A9C2-49D98DF2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8525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DB194-263B-4CD7-974E-1CD57CF0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6203F-1618-4FA2-AAB8-DACE3910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ACESSO PÚBLICO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fd168383f4411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52C0B-2EEA-4EF7-BBAC-D7E29FF0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B5BCE-269C-4D0B-A0DE-4AA056C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 página Coday centraliza a experiência de demonstração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D5343-F030-4180-8D3D-10AC2E84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Um ponto de entrada pensado para avaliadores, visitantes e exploração após a apresentação.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3F4D7-B31B-4DE5-A7F1-54C52950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rota pública /coday reúne contexto do projeto, contas demonstrativas, acesso ao login, materiais visuais e repositório. O visitante não precisa criar dados do zero: pode escolher uma jornada pronta, acessar o produto e compreender rapidamente como aluno e empresa se conectam.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ED104-7D17-4169-8395-236C9BE9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DBFDC-7147-43F8-A1B3-A6E79DB9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17CDB-E3D5-41FE-958C-87228DC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Página Coday — visão geral e contas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BC9B8-C52D-4917-B27B-5770B970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0E7B5-D800-40CB-80A1-C1954EC1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84F75-757C-4FAA-AD1C-B8043F1C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Demonstração sem atrito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BC48C-24C2-4D86-A3C7-F49516C6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Links específicos levam ao login com credenciais demo preenchidas e uma notificação explica que o acesso foi preparado pela página Coday.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61C5E-02B2-4755-AE76-7B0B5AA3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D80DC-204F-450F-A1E5-87AAF08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68939-5353-4210-B653-AAA65EE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Exploração posterior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9AE82-70DC-4B12-BC7A-0A0A7A8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QR Code permite continuar a experiência depois dos cinco minutos de apresentação, consultando sistema, documentação e GitHub.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06965-0A8D-4540-9FCB-E404F53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FBC7-75AA-411C-912E-0B61A445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CBA1C-30B0-49D6-B2C3-D8D1B4C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acesso organizado reduz o tempo gasto explicando credenciais e deixa mais tempo para mostrar valor do produto.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4BA31-B74C-46B2-AC83-EE18881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33534-10D3-43E2-AAC8-A9985E9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3208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9069A-1F1B-4301-861D-63855156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29242-FDED-489F-86DF-60E5F30F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CONTAS DEMONSTRATIVAS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75fbf95ba4642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C48D3-584C-490A-B47C-2DA541C5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05D03-8181-476D-8041-13792B0C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Duas jornadas prontas para apresentar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1B680-5246-42CD-970A-7C368CF4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Dados fictícios mostram o ciclo completo sem depender de cadastros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9E4D-FA71-459B-999E-34DDAC68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8524E-CEB1-47AF-8049-49B648DC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AD219-3ED1-4D3F-998D-EA87B5D0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Lucas Andrade • aluno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1360A-0571-4416-B040-6323DFA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Aluno em formação com foco em DevOps, Docker, Linux e APIs. Sua conta apresenta wizard preenchido, recomendações, radar, projetos práticos, currículo e candidaturas em diferentes estados. Credenciais: aluno.demo@trilum.demo / Aluno@123.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C185A-84B9-43C0-A512-D3E1B6CE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0AA38-65A3-40F6-8550-591075BF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2A539-2857-4508-BCA8-EFDABF1F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NexaCloud Solutions • empresa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3BD6D-E49E-4B3E-8D01-5203B07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Empresa fictícia de cloud, software e automação. Sua conta possui perfil institucional, vagas publicadas, candidatos, dossiês e feedbacks. Credenciais: empresa.demo@trilum.demo / Empresa@123.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31CC8-3378-40E2-B0C7-82A5B72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94636-48E1-44E0-BEF9-0665405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B9ED-4091-4AF7-84E6-F5A5379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24AFC-65E8-4B09-8A9D-4ABB83E5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As contas são exclusivamente demonstrativas e permitem percorrer os principais fluxos de forma previsível.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FBB65-0EEF-4027-870C-AA3077A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9C959-DCF2-473C-BC34-A6963681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9311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CCB7F-9746-4A3F-BD16-CD1CA9D7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63EC1-6E4B-4559-A14F-D6999E3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DIAGNÓSTICO INICIAL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48428563b40f3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E4DA4-9194-4AB1-AF96-0CA7E561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F2005-731E-418A-A113-9ADD66B7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wizard entende o momento real do aluno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965E5-FE77-4F95-8CB5-498AB7DB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Quinze respostas formam os sinais usados pelas regras de recomendação.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72489-5290-4700-B84B-B952C102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questionário coleta área atual e desejada, foco de carreira, nível de informática e programação, linguagem conhecida, tecnologia de interesse, experiência com projetos, objetivo profissional, disponibilidade semanal, inglês, métodos ágeis e soft skills. Esses dados são normalizados para orientar toda a jornada.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D77AC-D86F-40C9-B9CA-8171CBFC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AF83F-6928-471C-97E4-7577302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C2080-41A3-4E02-B79A-06DB41C4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Wizard — área desejada, tecnologia ou nível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A30C1-1815-4892-9182-F3016A48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86F26-A805-4B51-B471-4D3F7C2D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8DD19-374D-43FE-8466-2ECD0295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Direção e objetivo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F8002-6EEC-4673-8F00-E99DC5E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Área desejada, foco e objetivo definem a família principal da jornada e o tipo de oportunidade que faz sentido priorizar.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67EDD-D7E7-483E-BFE2-3E7E254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35F80-A1AE-45B0-ACDA-FDE597D9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2A3B1-475E-4201-B586-3E36DCF9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Maturidade e ritmo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B55E7-0117-4C25-B5E1-6D2694E7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Base técnica, projetos, nível da tecnologia e tempo semanal evitam saltos avançados e ajudam a ordenar pré-requisitos e complementos.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A0C6D-D372-41AC-B970-91A41A2C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F4EA2-8A60-48F4-A3DB-7608310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50022-BF95-414B-9AD1-EBF1B02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aluno não recebe um catálogo genérico: recebe prioridades coerentes com seu objetivo e momento atual.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2C62B-4E77-4950-9B90-FDDBD93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BFFAC-0BEF-4833-8E42-139FBFC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9394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645AB-7560-4167-BACF-7648568B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26A32-D80B-40A2-9A60-11C769B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RECOMENDAÇÃO POR REGRAS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228c06c894797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6ECF-1DFA-4879-A3B1-AD83B99E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B218D-B8F7-4C39-9199-FD4A078F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Das respostas ao caminho recomendado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459A1-758F-41A6-ABD0-09B86156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personalização é determinística, explicável e protegida contra trocas incoerentes de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E157A-9911-4DD1-8328-97834F5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E6903-997F-4783-9062-361D31BB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40DEB-3CDF-41B8-A721-EB94892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Entrada e pontuação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5831A-1FC6-492E-9109-042CBDCE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Respostas do wizard viram sinais. Área, foco, tecnologia, nível e objetivo aumentam a pontuação de conteúdos aderentes. Pré-requisitos ganham relevância quando faltam bases; stacks distantes perdem prioridade; conteúdos concluídos deixam espaço para próximos passos.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33FA8-ABFE-48BF-8FD4-C621C7AB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F5C2A-34A9-46C6-B03D-F3171286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9AC30-5DF7-4FB3-AB95-1CB26FA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Exemplo Lucas • DevOps/API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7C901-6FCC-4891-84FC-D439026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DevOps e Cloud aparece como jornada principal. Linux e Git entram como bases; Docker, CI/CD, cloud e segurança formam o núcleo; HTTP/API REST e SQL entram como complementos. React, Angular, Java ou .NET não são puxados sem escolha explícita.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5859C-81D3-4C25-BC59-9CB208ED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1A509-0829-4E42-B1DB-9EA0FF3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1F2E5-B768-4E39-ABFC-DF59CF3D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92A3D-1680-46F0-A4C1-9CB973DD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IA não escolhe recomendações nem altera pesos: ela apenas explica o resultado calculado pelas regras.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4CC4C-BC05-496B-9AC4-0A2BC267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3CE76-38CD-4CE0-9E2A-394EE85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7777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A18022-0170-4B87-9957-D24128FF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D3994-D19F-45BE-B07A-B5121B8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PAINEL PERSONALIZADO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2d660da2e415a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77021-53F0-414F-93C2-6B583943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C8863-C6AD-445B-A944-036B841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painel transforma recomendações em próximas ações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D682D-0EE8-4813-A87D-762ABCF0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Uma visão organizada reduz excesso de opções e mostra o que merece atenção agora.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62648-F709-4C64-8B76-4CDF9FE8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Após o wizard, o painel reúne trilha principal, apoios, cursos recomendados, vagas compatíveis, progresso e ações de perfil. O sistema ordena os blocos para que o aluno entenda a jornada como sequência, em vez de navegar por dezenas de conteúdos sem relação clara.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2F00-678B-4CD2-856B-E9B85562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18966-D238-4AC0-B747-984BF529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38EC3-55A2-4440-83AE-FDA6463B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Painel do aluno — recomendações e mentor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3B133-9AA1-43A5-BC83-8E936B0B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1F0A0-C1B7-41FB-87DD-0E4FC51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E7A6-2072-4E5B-A419-F9CB9FA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Jornada priorizada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5E05C-229B-4194-B25E-F827360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trilha principal representa o caminho central; cursos e trilhas complementares aparecem para reforçar lacunas específicas, sem competir com o foco.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F6D58-C68A-4EBB-8563-A9893CF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E895C-570E-4128-901B-66AF00E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4DE5A-3E7B-4F2F-A946-440FE56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Mentor contextual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B9E4C-41B8-45B8-AFF1-A78B6A0F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bolha acompanha página e seção, oferece micro-orientações e abre um painel completo quando a explicação precisa de mais espaço.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E3152-2F4B-41ED-88C2-73AF5B40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4C8C1-2320-4B48-85C9-818230CC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DC8D1-C1B9-42A7-95B6-0926864B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painel responde à pergunta mais importante do aluno: qual é o próximo passo que faz sentido para mim?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CF3E2-9081-4219-8953-24FD9AB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6131B-95AC-4780-A52B-928B4E44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831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1C432-B19B-4867-8A90-F4CAA3D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47DF3-6BE7-42CC-BBC5-C5B237E1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TRILHAS RECOMENDADAS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c45a21dcd474f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0103D-3D10-4C3F-8752-4C9EE90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F9A85-F661-4FC2-A899-CAE21D0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Trilhas são jornadas, não listas repetidas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BBC6-A786-4B39-B34C-B9FEDE6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Famílias, pré-requisitos e complementos organizam progressão e reduzem duplicação.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98F44-F8E5-4070-BB19-D9E05205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Cada trilha possui uma família tecnológica, pré-requisitos separados, cursos principais e complementos. Na seleção final, o sistema evita recomendar muitas trilhas da mesma família e impede que um curso-base, como Git, domine visualmente todos os cards.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0C008-EE67-41F0-94D8-12687E3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B63E9-2948-481C-9D6C-06E9DB9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5DF23-B285-4B71-9225-869B805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Trilhas recomendadas — principal e apoios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0BA95-B25E-409B-9E01-041C050E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29FF6-9408-4D51-AB33-0D76FEE5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9E759-4A0B-44E3-8894-A122FAA0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Estrutura da jornada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C79DD-49B4-4EBE-BD0E-DAE5F4F9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Pré-requisitos preparam a base; cursos principais definem a identidade da trilha; complementos reforçam habilidades transversais.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56614-2626-4AAA-BF32-B0DE607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BA013-80A6-4D6E-BE05-C46EC650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24E4F-7E45-4F62-8D15-0ABFE3F8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Deduplicação e coerência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A28DE-A637-4381-ADB0-521451B9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seleção reduz repetição de cursos entre trilhas recomendadas e utiliza thumbnails dos conteúdos principais, não dos pré-requisitos.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6DE3D-2706-412C-A2FC-5C081F0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4C3D9-8411-4CD1-9017-ACA3E320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78A48-C0CC-427D-A1AC-4658673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estrutura ajuda o aluno a avançar com profundidade sem misturar stacks ou repetir os mesmos conteúdos.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252CF-8886-4FF3-95C7-D83593C9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1BC0E-FA69-48AC-B48E-4A8C186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4701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8F978-A93F-43FF-85FA-44BEF8E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69BE4-3FDF-4DC3-A131-99A44F4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CATÁLOGO DIRECIONADO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2d096b13c4bf7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A54F6-B632-4D12-95EF-1EC1BB1F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B0D08-57B1-4E9E-811B-708CAF29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Exploração livre, mas com orientação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B0EA4-B452-426C-9B8A-168126FF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Filtros permitem descobrir conteúdos sem abandonar o caminho principal.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6E042-DF7B-47D6-9792-81D43AC2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catálogo reúne cursos de diferentes áreas, tecnologias e níveis. Busca e filtros permitem explorar por categoria, stack e maturidade. O mentor contextual interpreta a escolha: reconhece filtros coerentes com a jornada e alerta, de forma não bloqueante, quando o aluno explora uma tecnologia fora do foco atual.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230AB-5795-430C-A57A-C1B7CD3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F4BE1-4F1F-4ED9-B642-DBA5E887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E2C4A-A0F7-458C-ABAA-5604CD5B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Catálogo de cursos — busca, filtros e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DCD59-7B0B-4E0E-A8C4-EC606A54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D0C26-7721-43C9-92BA-9AE67B4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A9005-0DEB-4566-A4BC-01200F4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Recomendação versus exploração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CB912-D1BE-49F4-B639-9B7E6947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Conteúdos recomendados representam próximos passos; conteúdos fora do foco permanecem disponíveis para descoberta e comparação.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292AC-74BC-45D9-881E-9AE2D7F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E3081-AF29-4A7C-87E4-2DDC919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23634-6BCD-456B-AAA7-09FFA0C7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Escolha consciente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3BB73-8751-42C8-BBDC-477539D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orientação explica por que Docker fortalece DevOps ou por que React seria apenas exploração para esse perfil, sem impedir o acesso.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E9E42-E973-41AC-A20F-1E5CDADA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BA82F-BC11-4C38-AE3C-05911666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0A66A-F119-4C96-98A4-F67596EF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plataforma preserva autonomia, mas reduz a chance de o aluno trocar de caminho por excesso de opções.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29C83-C39F-4946-A1E0-7BDD04F1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1FB49-AF17-415D-9B0E-8850FEA8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3584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B8890-446B-4B4F-BBCD-07E1FC2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0CCF1-CFDC-45D8-AD88-6DCCA0C1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CONTEÚDO E PRÁTICA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7f6db380b4298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79E1-B17E-4AAD-848A-7BFBDDD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C3359-11F3-42D3-B6E0-53AE604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Curso e trilha podem gerar um projeto aplicável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1A62F-F5B0-4566-8793-99A7D680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aprendizado é conectado a entregáveis que podem virar evidência profissional.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5D237-43C2-4F96-9264-9C06D696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Ao abrir um curso ou trilha, o aluno visualiza seu papel na jornada, módulos, aulas e possíveis próximos passos. O sistema pode sugerir um projeto prático relacionado, com objetivo, tecnologias, entregáveis e critérios de conclusão, transformando conteúdo estudado em aplicação demonstrável.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5E733-E06A-49B0-86FE-4E21C3B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866BD-706C-497B-9437-77713C7B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1651C-B296-4440-AE7E-A070CC2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Detalhe do curso ou trilha + projeto sugerido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8A0AB-48AE-4429-97C7-F53A39C1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C4F73-E768-4699-9E71-969F657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23938-0810-422F-85E0-A4A8EDF5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Contexto do conteúdo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4CC08-0CB6-45E4-B5FD-0C6E70CF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mentor explica se o curso funciona como base, conteúdo principal ou complemento e sugere o que estudar depois da conclusão.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24048-D36D-43AB-B9A5-FF84742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469DB-AFBE-47C7-BD2C-B2FA267A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09483-3067-4C16-8F7E-1D57B730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Projeto vinculado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FA8CA-6F49-4974-B103-C00B8B92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sugestão descreve uma entrega coerente com a tecnologia, como uma API containerizada, dashboard ou automação de testes.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43B46-9958-4F0B-8A18-55168421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E0D17-37D3-49C6-A07C-5592481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4C020-CF88-4DB0-8F7E-DAA4FD58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Projetos aproximam aprendizado e empregabilidade, pois convertem estudo em algo que pode ser mostrado e discutido.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07E9C-2FB4-4FF6-8161-E6C6AB9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C44E6-EEE3-4C70-9976-0C29E12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3346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1D489-C003-4009-947D-179A1A1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77996-14F4-4211-A9EF-9A45A2C8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APRENDIZADO REGISTRADO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0fa18289b4a71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FC0E3-F9C8-4D2C-B330-2363FE6A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AD871-A91D-48C9-A900-476AED7A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Player, progresso e certificados tornam a evolução visível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AD5C7-A9D6-4382-8872-43EFC183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sistema acompanha aulas individuais, timestamps e conclusão dos conteúdos.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E3C34-E2F3-4A5F-BC30-00AB72C1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Cursos importados utilizam links individuais de vídeo, módulos e aulas organizadas. O aluno acompanha progresso e pode concluir conteúdos. Esse histórico alimenta perfil, certificados e análise da empresa, diferenciando interesse declarado de aprendizado efetivamente realizado.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EF029-E502-4D1D-8735-1968294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D16E9-33F2-4F38-A4AE-25F7E6C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002E6-2973-4AC7-9C81-E5EB54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Player de curso, progresso e certificado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5D27E-5041-4ED4-9C98-DD7C5AF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BE0AF-DA56-4896-A61A-7D75F47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21677-E77C-4CFF-8E1B-03505E60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Progresso granular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E0DDD-D6C4-444F-8B1C-1148AD8B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Aulas e timestamps facilitam retomada do conteúdo e tornam o percurso mais claro, inclusive em cursos longos.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EFF72-C087-4F50-A40A-78551B1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6B2D6-3127-40DD-A3CB-EC76142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9DE32-43A5-4B12-9761-DA738B6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Certificação e trajetória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D4351-8FAF-49ED-AE76-5551424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Certificados e cursos concluídos aparecem como evidências complementares no perfil e no currículo do aluno.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20FFD-8879-44AC-BA29-ADFA0EA2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588AC-563A-46B7-8DD5-87CB724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8B9FA-925F-43BC-AA9A-BFF0C61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aprendizado deixa de ser invisível e passa a compor uma trajetória verificável dentro da plataforma.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354BC-362F-4BD7-9DEC-64EF343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6B169-DC08-4FC6-BF0C-294616E6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9107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8926F-6B38-4ADE-8357-2D7598A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2FA66-74A8-4E20-A43D-E75DC40B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RADAR DE PRONTIDÃO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2fe4a2cdd4a65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8D758-C73C-4119-91E8-6194A70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70616-818C-4C1B-9AE8-C2112DBD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que falta para uma candidatura mais forte?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B1FDF-D217-4106-A45C-549E75F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Uma pontuação por regras transforma lacunas em 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FD864-6576-4A34-93BF-B2D8D261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radar geral considera preenchimento do perfil, currículo, links profissionais, tecnologias, aprendizado e projetos. Cada critério possui peso e evidências mais fortes contam mais: um projeto planejado contribui pouco, enquanto um projeto concluído com GitHub ou deploy aumenta significativamente a prontidão.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5CD2F-4364-4269-9AD7-57FDADB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BEDE0-47B0-45FE-9A94-C86B621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4A1C9-76AE-4A13-A680-0352B34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Radar geral de prontidão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A02EB-7546-446A-BD98-51FC24B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A90C7-F530-4480-A671-11E9662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91649-F2E0-4A78-98BB-433AB2CB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Leitura transparente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D7AEF-06F3-4EEF-BE23-0E3C77D4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radar apresenta nível, pontos fortes, lacunas e a próxima melhor ação, explicando por que cada item influencia a preparação.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4C4C8-6F44-40FF-BD45-96EC46B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DBBC4-2234-4185-B9CF-16F28233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22AA2-73D7-442D-A9EF-186B267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Orientação, não bloqueio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9352E-1886-4A99-8633-7A2A62A7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Mesmo com prontidão baixa, o aluno pode se candidatar. A pontuação serve para apoiar uma decisão consciente, não para impedir oportunidades.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49753-F645-43C7-8415-BDF83B5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9C031-3512-490E-8200-CAA88B6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FCEB5-EBB4-42AA-B887-39BA0D4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IA pode explicar o resultado, mas não altera a pontuação nem decide se o aluno está autorizado a se candidatar.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389F0-0FC6-4065-AD90-C54F6F6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1E89F-A672-449B-8407-94D0D3D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6311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A9CAA-99AD-471F-ADDF-721061C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0C438-C331-4438-A752-DC84860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PROJETOS COMO EVIDÊNCIA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0f75528304aa2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668CF-0094-4673-9C0D-ED86274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74C1C-FEC9-41E6-828C-A9E13A6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Projetos práticos fortalecem perfil, currículo e candidatura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E6D3B-39E3-43DA-A5F1-6DE38DA0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sistema distingue sugestão, execução e evidência concluída.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68CCB-33D3-4396-A079-93CE05E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Projetos sugeridos começam como planejados. O aluno pode marcar andamento ou conclusão, registrar descrição, tecnologias, aprendizados, GitHub e deploy. Apenas projetos com conteúdo e links verificáveis ganham força como evidência; a plataforma não transforma uma sugestão em experiência que ainda não existe.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F2803-308C-4DFB-9CCC-6987FDA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55F71-F824-4A11-A837-55E0C9A4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F7113-3478-4C5F-80B8-99BB8BA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Projetos práticos — status, GitHub e deploy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6D43C-2DD9-41B2-9463-CCF985B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88AD5-5F80-4970-A812-F53D01A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6BDF7-D053-47B2-A071-04BC8200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Evolução controlada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C548F-47BC-4ED7-BDC2-5F6FE5CB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Status planejado, em andamento e concluído deixam claro o estágio real do trabalho e evitam exageros no perfil.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2A70B-D263-434B-8C79-084A0A2C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9F4B7-B7F7-48A5-B948-BEF17F9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E667E-C705-457A-81C3-7CC5934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Reuso profissional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B95FC-F07E-4707-B200-C77A6A5C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mesmo projeto pode alimentar perfil público, currículo, radar de prontidão e análise do candidato pela empresa.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D230-8DDB-4802-B244-00B6717D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A0AF1-2DD5-45FB-A0D2-4CF433DA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3CD4B-3B7F-470F-B4C3-BFC22054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projeto fecha a lacuna entre “estudei uma tecnologia” e “consigo demonstrar o que construí com ela”.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9A216-FA48-4943-9C84-C15F3DB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61FC6-AC19-4514-8FFB-BABCB43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59015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B1C18-85CA-4F0C-A6C1-0E0D7290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22A5C-4E0B-4644-9DC9-A4B1A1D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PERFIL PÚBLICO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66d66fc7f4967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D0AAE-CD72-4BF2-8405-55C3BC7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6C6C2-B5FC-4098-9A9A-CA1BA41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perfil funciona como vitrine profissional conectada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D5819-9018-46CB-8FF8-22FB04C2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Informações acadêmicas, profissionais e práticas contam uma história coerente.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BED6-CDB6-4F44-8076-057B8A8B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perfil reúne título, resumo, tecnologias, links, formação, idiomas, experiências, certificados, projetos e candidaturas. Ele não é apenas uma ficha estática: o mentor reage a campos importantes, explica o que preencher e oferece exemplos baseados no wizard e na trajetória real do aluno.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0ECE9-0FB1-4CAE-9110-CBC0FD0A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2F52F-3BC4-4F3C-90C3-2F9D033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F1107-A392-4797-BD36-B78E3090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Meu Perfil — visualização e edição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2AA06-E981-4172-BF92-D088B17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6DB75-F4B5-4B0A-96B0-0B4AA00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C7A0E-2615-4614-886C-50BF733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Preenchimento assistido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5BFA0-6586-4991-AA54-3A47F7B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Templates ajudam a criar título, resumo e objetivo sem inventar experiência. GitHub, LinkedIn e projetos recebem orientações específicas.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C6323-B01D-4291-B426-2A472B2B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36F0A-18D8-4880-BC32-3068AD8F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23136-6236-4434-8C44-C76D2186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Coerência profissional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45D79-F08A-4E69-9571-C35A588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sistema incentiva o aluno a destacar tecnologias alinhadas à jornada atual, evitando um perfil genérico ou com stacks sem evidência.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4A388-C8BD-40C0-BF9F-D3026D57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DE337-61F8-44EE-ABCA-BA793B3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60961-953E-482B-9624-B1A5352B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aluno passa de consumidor de conteúdo para autor de uma identidade profissional compreensível pelas empresas.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BFCC3-9DC8-4D2F-9753-03FCF485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F11E8-B9E2-40B9-8FA3-88855DDD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62550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1C38B-0B02-4C86-B573-DB0234D3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0A462-2C7F-4573-A0E4-BBF1BF8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CURRÍCULO CONECTADO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5e57aad104013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8F3FB-ABA5-44D5-8E8E-363D3036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BD081-A667-45B4-825F-9AB6876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Currículo revisável, coerente e exportável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32320-82E6-4CC0-B793-63D4B094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Dados da trajetória são reaproveitados sem retirar o controle do aluno.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25F72-B1AE-49C4-8852-1E044034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currículo parte das informações do perfil e do aprendizado, mas permanece editável. O aluno revisa objetivo, resumo, tecnologias, formação, experiências, projetos e certificados antes de exportar. O mentor aponta campos ausentes e explica como priorizar evidências relevantes para a vaga desejada.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31D58-EDBB-45AD-86C0-831E6C5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36443-5F54-4058-9247-2DCA1E91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8F74-8018-4E81-A012-0C4E8AA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Meu Currículo — edição, preview e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6020E-6654-4BC8-A2BC-2490FBB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79B87-69D4-4985-87B4-6AEAD0E0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51F29-F31C-4D56-81FC-61923A4A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Menos retrabalho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3406E-3AA2-428B-AE92-82B27788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Informações já registradas podem ser reaproveitadas, reduzindo a necessidade de reconstruir o currículo do zero.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0DB2A-7A05-42A7-ABDF-BE34AFA5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9EECF-46A5-48CE-BAA8-5ED829A5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32964-5008-425D-9AA6-1E5DEE2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Revisão antes da exportação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00B99-3AE8-43B2-A325-3CB4EF87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aluno controla o texto final e pode exportar um PDF que reflete sua trajetória, seus projetos e seu objetivo atual.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907F0-E4AB-4909-885D-13826216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3D160-DFD3-4D66-BE4A-F167DE6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FAF9B-9947-435B-B3DF-F7E57F7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currículo deixa de ser um documento isolado e passa a refletir a evolução construída dentro da plataforma.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66A15-79EE-41B1-AA3F-615FF3E7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E39A9-2AA0-4E87-A3FD-A4E3AC9D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380362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CC79A-37DE-414C-B648-17EA78B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55BA4-CD0E-4C32-9478-C860229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VAGA E PRONTIDÃO ESPECÍFICA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379b76021417e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3ADF5-DA4E-4837-BDA6-2F67D3E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55B8C-295F-4D9E-9DAF-C0843ECE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 vaga também funciona como guia de estudo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6C6A2-9571-4883-B45A-A052E26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perfil é comparado com a oportunidade antes da candidatura.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D8FF8-4E6C-4DDD-B40A-2E0DB9C4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Ao abrir uma vaga, o aluno visualiza requisitos, atividades, tecnologias, informações da empresa e um radar específico. A análise compara sinais do perfil e da trajetória com a stack da vaga, identifica evidências existentes e mostra quais pontos poderiam ser fortalecidos.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11D25-1C85-45B6-8F10-7CA9794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2619-9C2B-4F7D-AB08-9851E740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72894-D146-48AB-9164-B143915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Tela da vaga + radar específico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F5AA0-4BC2-4F00-B806-C8CF0A57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8D0DC-8F03-485F-959B-929218BE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DC02E-9226-48F3-BF30-0CB7E87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Compatibilidade contextual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9B4CB-8DE0-4594-9EF2-87FB5F0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análise considera tags e evidências do aluno, mas não reduz a pessoa a uma lista de palavras-chave.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2DB31-5384-4CEC-954B-392933B1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97BAC-218E-4DA7-8858-D8A9B686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52A7A-A3B3-4E32-AA42-8932DEE8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Próxima melhor 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E557C-136B-4F01-855C-6E4171AB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GitHub ausente, currículo genérico ou projeto sem deploy podem virar ações concretas antes ou depois da candidatura.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1C516-5115-4DDF-909A-63203641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1D8B6-E2E7-41EB-9288-6513DFB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9D407-5102-44F8-B38E-DD23332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candidatura permanece livre; o radar apenas permite que o aluno decida com mais contexto e use a vaga como referência prática.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7F225-9D64-4E13-9EDE-49F6B19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B0AEF-15EA-490A-BA6A-9E41490D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586030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19BC7-5DB4-4566-AB5C-98F985A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C7319-40C8-4391-8938-FBA05861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RETORNO DE CANDIDATURA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f674847eb46dd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6D066-9387-4CAA-A53B-3ADBBC56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FCF05-6E73-42DF-B710-0413B47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Quando uma candidatura não avança, ela vira orientação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30C93-250E-46F0-9583-32554BBD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Status cuidadoso, feedback público e próximos passos conectam empresa e aluno.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0574B-CBCC-4EFE-A5E4-B9D1E1B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No lado do aluno, estados internos são traduzidos para mensagens profissionais, como “Em análise”, “Selecionado para próxima etapa” e “Não selecionado”. Quando a empresa compartilha feedback público, o retorno aparece acompanhado de pontos para fortalecer, projeto sugerido ou ação de perfil.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A141C-DBF8-42D7-A864-3F20FC10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8B53D-3388-49A0-B8C4-3428D60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64571-391A-4A07-8356-7772076B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Candidatura do aluno com retorno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DD7B3-7558-463B-A88A-4559ED6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765E3-1067-4B7A-8707-4C615421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78C9A-4B10-4F1C-B976-9602942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Privacidade preservada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437B3-3020-4D83-904D-FB62A285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Feedback público e observação interna são campos separados. O aluno nunca recebe anotações que a empresa não autorizou compartilhar.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8146C-095B-4BCA-8A8E-F213EB6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AA46C-737B-46BC-A2DB-B21F2A50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FB72B-5824-4727-8CE6-3C269BC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Evolução após o 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27DA1-7F89-46F6-AF35-8371E615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Mesmo sem feedback específico, templates seguros oferecem orientação respeitosa e evitam uma experiência vazia ou agressiva.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A187E-C5C5-4F8D-8D3A-34DD153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E1357-0327-4E76-8F16-763070CA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1F110-4E30-4082-8EF9-EE9B374A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decisão deixa de ser apenas um status e passa a alimentar a próxima etapa de desenvolvimento do aluno.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FDB1C-6E36-4FF4-8CDB-E7EB28C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1E3FB-1FA2-4D88-88A4-978EB04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662285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48A13-6DB4-449C-ADCD-8A2629F0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98121-7FF3-4F63-B5A1-79E08B7C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PAINEL DA EMPRESA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c03884bed4b5e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A1A95-428A-4C47-9229-41A4C37A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2D9DA-BEC1-460D-9DA0-3B24F0F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Uma visão centralizada do recrutamento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1C470-5107-40FB-9BC8-77D1A1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empresa acompanha oportunidades e candidatos sem a complexidade de um ATS completo.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38E4B-ABE1-4060-87E1-5A57062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painel empresarial reúne indicadores, vagas recentes, candidatos e atalhos para criar, gerenciar ou revisar oportunidades. O mentor da empresa apresenta orientações relacionadas à qualidade do perfil, das vagas e do processo, mantendo as decisões sempre sob controle humano.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8BAA4-76C8-4999-965F-12902461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00FD0-A8CE-4ACC-9D3C-215512EE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290BA-C024-4A19-8CA0-C5F2AB3C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Painel da empresa — indicadores e atalhos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41FC6-4B2E-4E11-952F-0DF4FF0B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4FB40-5B3A-4297-A7DA-8201956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605CA-6469-4BBF-9E8F-A2D7DED9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Visão operacional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0B9B8-AE16-45F6-8BE8-010E270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empresa identifica rapidamente vagas ativas, volume de candidatos e ações que exigem atenção.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7849B-9AAB-41DF-8F4D-AD09EE2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00AAB-8464-461B-9DE6-5170DE6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3FB9C-4463-43CF-AF1B-B8E9023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Assistência contextual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064A5-73E4-488C-9A2E-C47BCA9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mentor explica ajustes possíveis, mas não publica vagas, altera dados ou toma decisões automaticamente.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D8C82-89F3-4727-A0A2-D7D47E45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DA6BC-8DCD-4182-87D4-1241AD2F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2A01B-8E79-4DEC-88E6-24A21DA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lado da empresa também recebe orientação e contexto, em vez de funcionar apenas como formulário administrativo.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CE82E-F52D-4A82-BB50-B62176E4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0B9FC-2AE5-4A86-A8CA-C6D2C37B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56729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DCC40C-6A31-489A-9D32-CE730AF4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C927D-39CD-4CE4-B95C-6D09BDC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PERFIL INSTITUCIONAL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9e4ac51044904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1ACB-7999-4336-8BC4-0A289529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CCDCD-7EDC-44C0-87A2-8B60161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 empresa também precisa se apresentar bem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A4280-8D2A-4EB7-B6D9-6666C8DC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Marca empregadora e clareza institucional influenciam a qualidade das candidaturas.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F304D-26B4-46EB-94E5-697D4BF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perfil da empresa apresenta nome comercial e oficial, setor, descrição, sede, stack em prática, especialidades, diferenciais, links e imagens. A força do perfil identifica pontos preenchidos e próximos ajustes, ajudando a empresa a construir uma vitrine confiável para candidatos.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85A98-953F-46E7-997D-190A9987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9F530-82F3-4464-80CF-332CE7E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11B52-7D53-4A90-8C6F-C9B14A8E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Perfil da NexaCloud + força do perfil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49AC4-B718-4E9B-9AAA-4E11BCAE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E3C91-EBB2-405A-87F5-70B36410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5C0EC-EBE7-42F1-A0DB-D672F7B2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Força do perfil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151A1-84DF-41E8-9082-20D7A7C5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Critérios objetivos mostram completude e qualidade da apresentação institucional, sem bloquear obrigatoriamente a criação de vagas.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314A2-1DF1-4529-B3AD-8ADC3BF9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D9EA6-7A7F-41A3-A621-BC9EBBD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548C6-610B-49D8-8DED-3560D8D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Melhoria revisável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FBD31-6C04-4021-9CC7-4A108FC9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Templates e IA opcional podem sugerir textos adequados ao contexto empresarial; a empresa escolhe copiar ou aplicar cada melhoria.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F2993-DD74-433D-9EE7-2353F1F1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55BAC-5086-45E6-BA4A-4A37B8CD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95266-F88A-4552-8813-037E28FE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Candidatos também avaliam empresas. Uma apresentação clara aumenta confiança e torna as oportunidades mais contextualizadas.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6A7CB-D24B-425C-B266-7566159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F88E6-635C-41A9-9BE7-B1DE4EB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894955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E10FB-5D23-4017-A9EF-26C8547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04B41-4B28-4FDA-94E4-639B798D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CRIAÇÃO DE VAGA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84ef2c19d4b55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BAA6B-64BA-4590-B0A4-A5B1C6B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15212-A2BC-4C37-9797-372FB92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Raio-X melhora a vaga antes da publicação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123C2-B418-48E9-950F-A81C0D2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Qualidade, atratividade e coerência são avaliadas durante o preenchimento.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46C88-3F07-4D15-B708-37F56B7A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empresa informa título, descrição, requisitos, atividades, faixa salarial, contrato, nível, modalidade, localização e tags. O preview mostra como a oportunidade será percebida, enquanto o Raio-X avalia o conjunto completo da vaga e separa erros reais, alertas de coerência e sugestões leves.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C92FA-0210-42CB-96C7-F139416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D1B70-8C7E-4376-8808-164CC6FA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8D5D2-D9DB-4BDB-B8BC-EFD3F238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Criar vaga — formulário, preview e Raio-X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13A09-CA78-46A8-BFF5-CBDFCDD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CEF38-2F69-476E-8E9A-28251178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E5E40-1E14-4CFC-89DB-2E74D645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Análise determinística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8BF3D-FC6F-4D6B-A587-2441E21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Regras identificam campos vazios, exigências incoerentes para senioridade, modalidade sem localização e tags que não aparecem no conjunto do texto.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9D316-A6F2-4684-B50F-81019914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365FF-91CB-4CD5-991F-3FFE0C58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37A38-1F6C-460D-9B48-77A07ED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IA como apoio textual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B466B-92EA-4701-A4B4-6DE3313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IA opcional pode melhorar descrição, requisitos e atividades, mas a empresa revisa e aplica manualmente; nada é publicado automaticamente.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367D7-145C-424E-8813-F4CE7408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04818-E3B9-4B6D-9D73-1CA070B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7490D-F41C-4626-9E7E-276D1BD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Uma vaga clara reduz ruído, melhora a experiência do candidato e aumenta a qualidade do processo seletivo.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FDEE7-D5E1-4037-9173-FDA9601E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8625C-35A8-4CE9-B17F-82DD859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0488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F7AB4-9402-4AD8-8359-5D78D50D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CB868-9A22-421C-BA8A-74DC2096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GERENCIAMENTO DE VAGAS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9bc91e5ac456e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FAA63-27BF-4E6D-BE38-DCB5CBD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8A15-002D-4B8C-941C-3AFDF5CF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Controle e revisão das oportunidades publicadas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8810-21A6-4804-9B88-DED343A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Status, qualidade, candidatos e previews permanecem acessíveis após a publicação.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3B828-A106-448C-A3CF-7470E3F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tela de gerenciamento reúne filtros, estado da vaga, indicadores de qualidade, quantidade de candidatos e ações operacionais. A empresa pode editar, encerrar, reativar, excluir, visualizar em formato card ou tela completa e abrir a lista de candidaturas relacionadas.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F1FD9-953E-4108-9C4B-34ECE289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99A97-80BD-4271-B450-7C9F01E4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AC694-85A8-482F-9B65-5572503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Gerenciar vagas + preview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63EC8-44B1-4FD5-9498-17755B57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2519C-8130-474E-823B-90A314CD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FEF6A-1932-455B-A299-4FFF9DBF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Acompanhamento contínuo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C1DA8-7B27-439A-94E1-2FF48BDE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Raio-X continua útil depois da publicação, permitindo revisar clareza e coerência quando necessário.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EFA48-33B2-41C4-834E-C826B97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03142-2FF1-4C04-8AA9-A6E6CFE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910C5-3CA8-4A4C-9A53-1AE4EB33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Previews consistentes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99D64-48C6-4A14-B0D3-24796DB2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Diferentes visualizações ajudam a validar como logo, empresa, descrição e informações da vaga aparecem para o aluno.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E645F-B3AE-4DA0-99BB-5C44592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DB6A0-ADB7-4690-9B5A-97E6F21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AB498-D055-441D-A5AD-65F1BE6D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empresa acompanha não apenas a existência da vaga, mas também sua comunicação, qualidade e movimentação de candidatos.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5396E-41AA-4791-8AA4-825A3A0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2D4E6-E2AA-4E9C-9FDE-5BC87516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705393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79141-6BED-4650-A227-BCE87F7B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07C61-A39D-4FC5-B669-29993F0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ANÁLISE DE CANDIDATO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27cc7b4a7454b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D74EA-8DD5-4297-9115-295BF92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DAE70-A176-4570-882A-4D73DAD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 empresa vê trajetória, não apenas palavras-chave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5EB03-6E4A-4EDD-A46F-6404ADE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Perfil, currículo, aprendizado e projetos formam uma visão mais completa.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DF7EF-8B0D-4417-8C35-53420134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Ao abrir um candidato, a empresa acessa informações profissionais, tecnologias, cursos, trilhas, certificados, projetos, GitHub, currículo e outras evidências disponíveis. O objetivo é reduzir a dependência de um currículo genérico e contextualizar como o candidato vem construindo suas habilidades.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1CE01-2FF8-41BB-B2C2-2926E6C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9FE02-ABCE-484D-9052-A4F2AA0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132A9-C44C-4E7E-B625-2A98A52A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Perfil de Lucas como candidato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E7B9C-A47A-4486-9779-E36BEEC2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EBCC8-67C9-47AC-A32A-86A2C2CC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6BADF-1108-4A67-A22A-DE53EB80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Evidências verificáveis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7C9AC-61FA-4A81-B91E-0AC6B064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Projetos com descrição, tecnologias, GitHub ou deploy ajudam a validar prática e organização do candidato.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D7211-CE45-44EB-B3D7-2E328818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18593-A656-45F1-B2FA-D9B446F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DA73C-53C5-4A89-9C4D-12A3AB40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Currículo exportável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55BEB-5546-4E38-8B0D-6811882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empresa pode consultar e exportar o currículo, mantendo a decisão de recrutamento sob análise humana.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5D8D9-A659-4857-8802-3D5D26FA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83EB7-DFC1-473E-BAE1-36A0800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CD6C9-E856-48C3-BD47-F0165DD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análise reúne sinais construídos ao longo da plataforma, oferecendo mais contexto do que uma candidatura isolada.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90BEE-5CE7-4C85-BF8D-151135A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8528D-C19E-420E-AE7E-7543A3D9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661612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24B42-909C-4AE1-A62D-96451A8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3AF08-FB30-4CDB-BAE3-A46B9580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DOSSIÊ DO CANDIDATO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91e3a1aeb4bea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DBBE3-9812-4306-8F7F-F3CCE75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E315A-ED16-4956-A954-C5FD1BB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Compatibilidades e lacunas organizadas para análise humana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15307-7DB6-4C52-9893-FCFB9C0A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sistema consolida evidências, mas não toma a decisão final.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14340-2D4A-4684-87E4-E0D93F54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dossiê compara candidato e vaga utilizando tecnologias, cursos, projetos, currículo, nível, modalidade, localização e objetivo, quando disponíveis. Ele apresenta uma classificação de compatibilidade, resumo, pontos aderentes, lacunas, evidências e recomendação interna cautelosa.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8A4D8-C003-4289-9A18-B279B8B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E4638-3E0A-486A-A5A7-26755F42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E4134-9D08-4A33-B426-6FBC7D4C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Dossiê do candidato para a vaga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3550A-DC6F-435B-A625-B2DB88F0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7D548-03F1-4EFF-8B5B-4B4035B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889BF-4843-4622-85D9-88F844A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Cálculo por regras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A988F-6BBF-45FA-AD68-08DCBF7F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Score, nível, compatibilidades e lacunas são calculados pelo sistema. Quando o perfil está vazio, a análise deve assumir “dados insuficientes”.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DFF40-B9C3-4A0C-AC91-EA5E244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2511A-4538-451F-8610-2AB91D60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FB47E-8EF5-4A25-9931-0C24E780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Redação assistida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5F982-A46F-4437-B590-AE3BB156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IA pode tornar o resumo e a recomendação mais claros, mas não altera o score, não inventa experiência e não aprova ou rejeita.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2FA47-FB92-4506-96CE-D501D17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A8534-EDD2-48B7-B443-D6FF7800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7BD1A-1E3E-4D2E-B856-5EEB48D4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 dossiê reduz ruído e organiza a leitura, preservando responsabilidade e decisão final com a empresa.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86F0A-947F-411C-B9E5-98FF013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C484C-4068-4987-8445-74B85ED1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721435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CE63F3-92F5-4644-B665-11D4F14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F54C7-B5A8-470D-BE70-D8F0D1BC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FEEDBACK E PRIVACIDADE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c4b2c48df4659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F6A36-533C-4148-8E95-F3809CB5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01A45-3EF1-4D96-9F3F-442F8800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Feedback público e observação interna permanecem separados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8B05D-0593-4000-BBB5-40CC8054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comunicação pode ser melhorada sem expor informações internas ou automatizar decisões.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B1494-014B-4296-B702-D0FE798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9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Ao alterar o status de uma candidatura, a empresa pode registrar motivo interno, observação interna e feedback público. Um texto assistido pode ser gerado por IA ou fallback, mas sempre aparece para revisão antes da confirmação. O sistema não envia mensagens automaticamente nem promete contratação.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EFE49-D7C6-4E8B-BABC-99A6B1B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762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A97FD-CA77-475D-A8F3-BD213EBC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68010-CEF2-42AF-9D84-B6DE692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Modal de decisão e feedback assistido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04A22-606D-490B-B62F-AE237BC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DD8CA-5598-4D83-8720-237DE270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3B561-BEB7-4105-B9DA-7ED5CC0D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Uso responsável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F849C-95E8-42BF-B750-8EB105FF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Textos são validados para evitar linguagem ofensiva, discriminatória, exposição de score, dados sensíveis ou afirmações inventadas.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CF82F-C384-4607-84B4-96E82309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029075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780CE-7EAC-41BF-BF62-78EC60CB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476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1EF7F-7B7E-4A4A-B71D-69BD8A0B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Separação de públicos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43B52-82AC-4637-98AC-5795834F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705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Somente feedback aprovado para compartilhamento aparece ao aluno; observações internas continuam restritas à empresa.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0B891-CE0B-40B5-8B84-58B3C514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7A04A-1B18-4F91-9FA3-3299BF8D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POR QUE ISSO IMPORTA?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34B7A-CB4F-4175-9D54-B843067B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plataforma melhora a qualidade do retorno sem substituir o cuidado humano nem comprometer a privacidade do processo.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CA551-8905-4037-B03C-FD3980C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A0B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CA0BD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A7F8C-C6A5-4AEB-A393-07875EFF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8CA0BD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766568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29327-D8B5-4731-9052-DAB736B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D185E-CD23-45DC-9038-2D19523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IA LOCAL OPCIONAL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007936dc34de6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6E75-CAFE-4455-9183-BAAE6D2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B1824-45C3-451B-A57E-44A9D69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IA como apoio, não como decisão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B2A40-F254-4A9D-9D92-449DF1FE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produto permanece funcional, apresentável e útil mesmo sem o serviço local disponível.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A6D8F-A8A7-4CE2-9F15-6DBC7315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DF160-762A-47DA-BC46-8D71DA69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5E4C5-9C37-4E79-85D7-AC24BCBD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Regras e serviços determinísticos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10B50-90D4-4502-8BE1-C08F6963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Wizard, recomendações, pontuações, radar, qualidade da vaga, compatibilidade, status e validações são calculados pelo sistema. Esses resultados constituem a fonte de verdade e não podem ser alterados pela 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587E4-BCC5-44EC-AE74-7313F52A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DEB26-43AD-40C1-8C2C-56876DD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D6A26-4F26-421B-9796-1B0FE22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IA local +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A921A-3C01-41B7-9104-3C9E2166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Ollama com modelo configurável, como gemma3:1b, melhora explicações, mentor, textos de perfil/vaga, resumo de dossiê e feedback. Timeout, cache, validação e templates garantem fallback sem erro técnico para o usuário.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0783D-CD36-4493-B986-CB3B3B44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8D8A3-364F-4F18-99F9-373CEA03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7FD27-4DE1-4613-8C17-000ED03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E2794-3BAA-4681-B38E-C2474856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IA organiza e humaniza a comunicação; decisões, dados e pontuações continuam protegidos pelas regras.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46C1E-9084-4BFB-8EE3-364F819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98350-A5BB-4302-8F78-55FEEBD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03365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24B4B-0127-49B4-B1F4-ED177DCA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40653-D2CB-4719-98BD-ACA9344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GUARDRAILS E EXPLICABILIDADE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1e323e0b14b65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EE247-AB59-4077-BFB9-D41712C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F93D4-E008-45C3-91CE-E755F186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Decisões previsíveis e respostas protegidas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29FC4-16CF-432F-BC41-FEB9357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centralIA limita contexto, valida resultados e impede que a camada textual controle o produto.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331ED-484E-4D94-8CDB-EADCA5A6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0A6C4-AB30-476F-8B4F-AF54C601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C4040-9D14-4C3F-A218-F76FFAF4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que as regras calculam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68D2B-D573-420D-A9A9-04AC1796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Recomendações usam pesos, famílias, pré-requisitos, complementos e deduplicação. O radar usa critérios do perfil e evidências. Vagas e dossiês utilizam dados reais, sinônimos, coerência e compatibilidade. Status só muda por ação autorizada.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9D8DB-D48C-4AC0-9D59-4492AD2C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EDB43-9F67-4EF7-8A4C-48A69932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E0444-4CDB-4825-A87E-EE3BDE6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que a IA pode fazer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B0559-4E8E-4CCC-BADF-4CC2BDB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Explicar recomendações existentes, melhorar redação, resumir dossiê e gerar feedback revisável. Respostas vazias, longas, inválidas, com invenções ou termos proibidos são descartadas e substituídas por fallback seguro.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8846E-7997-4B99-9B0E-9DBB3529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80B70-6175-4799-B4EE-867CBC86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9D7B0-DB89-4DB4-AB8F-1E01C94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B8572-7F77-4F53-8980-A3E57C8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Dados mínimos entram no contexto; a IA não recebe senha, CPF, localStorage completo ou objetos desnecessários.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DE121-1EB1-4315-BA4F-CE606170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5AC4F-5BB6-4EB6-90C3-190EABF6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492784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87564-9759-4F46-9E3D-EC4961B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E17BE-3BD8-4190-AAAC-CF8A0FD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DIFERENCIAIS DO PRODUTO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2191040024e9c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4796-9CFA-4390-AA54-8719F9C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C77CC-A5A1-4BC2-821C-06313ED2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Uma jornada fechada, explicável e humana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77B4-7B3E-4A68-8194-C459C01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Trilum conecta ações que normalmente terminam em ferramentas separadas.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34B91-A374-4A6A-88E8-67CD1B36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C4483-72A7-4DA1-9097-BCDF50EB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84703-0ABA-4F12-A333-1660B141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Para o aluno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BD28A-2681-4EF1-B7D2-9E57C0AC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Personalização desde o wizard, trilhas organizadas, mentor contextual, projetos como evidência, perfil e currículo conectados, radar de prontidão e retorno de candidatura transformado em plano de evolução.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15EB5-83E2-464D-8A16-9B34D599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C6A29-5B9F-4E0F-AA9B-CA1497D8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3A9BD-78CA-4615-B48F-23D94EAB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Para a empresa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5C7B3-8AFB-484A-8444-EE46297A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Perfil institucional, Raio-X de vaga, gerenciamento visual, análise contextual do candidato, dossiê, currículo exportável e feedback assistido ajudam a melhorar comunicação e decisão humana.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72BFF-1420-4CE3-81F3-289C6628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C50EF-CBE5-4935-8068-DB246B03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AE775-6FA2-4909-8A94-30399C0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F9D5B-E322-45D0-8F11-C628A537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Cada etapa alimenta a próxima: aprender, praticar, demonstrar, candidatar, analisar, receber retorno e evoluir.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A6271-9878-46A6-8C8F-54AA5D45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6A35D-E87A-4736-BD5E-6DA605F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270067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25E41-B69F-43D2-AA8C-5E8B283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AC04F-C144-4C52-B112-E0B3C0A2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MVP E EVOLUÇÃO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235b599d644ac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E5554-2536-4203-821D-0E2BF31D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B3573-2E15-439A-8262-7BF9235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Limitações conhecidas e próximos passos claros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B258C-6012-4DA1-9340-B08C1CDD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protótipo demonstra o ciclo completo, mas ainda não representa uma infraestrutura de produção.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635B-D689-4F80-A859-B267AD19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C8D69-0EEE-4061-B99D-F49430B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F4FD7-5B9C-464E-A5DE-9B42A8D5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Estado atual do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97EF-338B-4BE4-86D3-B9DFEE2B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Aplicação front-end com armazenamento em localStorage, dados e contas fictícias, autenticação demonstrativa e IA local opcional. Não há backend real, sincronização entre dispositivos, chat em tempo real ou uploads permanentes.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2E4D3-D6E7-4D78-B826-0565497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B74EC-E3CD-4E57-A53D-A8E16C4D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C3D11-682F-48D5-8312-521EB6F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Próximas evoluções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D4320-2DDA-4C58-ACDC-911429C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533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Backend e banco de dados, autenticação segura, persistência de arquivos, notificações, histórico de eventos, métricas de evolução, permissões mais granulares e integrações com ferramentas de recrutamento.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4A630-E312-4CCB-BEF7-A71D229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90875"/>
            <a:ext cx="8572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9A641-07C1-4099-94FC-6CFF2CF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3C8B1-B385-4039-8D4B-F9D640B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SÍNTESE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40D40-C2F0-4D85-A75A-85E621C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transparência sobre limites reforça que o valor atual está na experiência, nas regras e na conexão entre os dois lados.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49217-DE02-49F3-B013-096FAF2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48A29-1347-4D9B-AC03-C6DD740B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77028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a8215d8e74656"/>
          <a:stretch xmlns:a="http://schemas.openxmlformats.org/drawingml/2006/main"/>
        </p:blipFill>
        <p:spPr>
          <a:xfrm xmlns:a="http://schemas.openxmlformats.org/drawingml/2006/main">
            <a:off x="666750" y="5238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66D22-7DE2-429A-BA9E-13E0B7D7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09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D7C2-44DE-415E-8072-7307A86F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Explore o produto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 continue a jornada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87F0C-D159-4BFA-B170-D642B89E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página Coday reúne acesso ao sistema, contas demonstrativas, apresentação, documentação completa e repositório. Use o QR Code para percorrer as jornadas de Lucas Andrade e NexaCloud 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9A5FA-8E2E-4BF9-98C3-49EA675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F437C-64A4-4A6A-9C6D-B842F5D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7536F-D008-4EF1-9C7E-B106A560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QR Code para a página /coday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55172-0D51-4A01-8F30-873E442F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9FFD1-2B35-4F03-95ED-EE38E152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E1557-84D7-4D22-9668-44F26D5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Aluno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33F1E-8CB5-4585-AC06-ADC3C260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2533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aluno.demo@trilum.demo</a:t>
            </a:r>
          </a:p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Senha: Aluno@123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CDFCC-5716-4946-97FD-A666793F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2CEC8-1978-465B-8BFC-C160AB3E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D06A1-6B07-442A-8729-CD38A05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95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Empresa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B5ED8-5E2A-480E-BD41-D729A1A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05325"/>
            <a:ext cx="2533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empresa.demo@trilum.demo</a:t>
            </a:r>
          </a:p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Senha: Empresa@123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E3428-11CF-4463-82B7-712C6F53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26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4ED2B-EED5-4939-BA3F-FDF90E7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Obrigado pela visita ao Trilum Conecta — aprendizado, evidência e oportunidade em uma jornada conectada.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F9844-9BD0-4CA8-AF90-9C0F51C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AF121-6043-4323-8306-FE0BE28C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400434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a153d33424f02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5E815-66CB-4FAE-BF18-317975C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B4664-90C0-48AD-AAB9-7E6712BC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A1600-36FE-4E7D-948C-649402B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SEÇÃO TÉCNICA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F82A0-422A-42EB-88DF-34485546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o Trilum funciona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por dentro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EAEA7-BB89-437D-87FC-ED927D80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0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Os próximos slides conectam funcionalidades visuais às funções reais responsáveis por normalização, pontuação, seleção, radar, análise de vaga, dossiê e IA com fallback.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B8FC4-487B-4F57-87AA-61BBA562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76375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8A062-9ACB-4D09-9F89-8F50277A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FLUXO 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DA731-9568-48B6-A33F-BDF0C6E1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76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Dados do usuário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Normalização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Regras e pesos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Resultado calculado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IA opcional explica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Fallback garante resposta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135F6-D119-4AB0-8898-C4A72E21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88D1E-295D-4A7D-B005-81869FA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PRINCÍPIO DE ARQUITETURA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2BF37-16A7-4A96-B146-9A8213C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fonte de verdade é determinística. A camada de IA nunca substitui cálculo, validação ou ação do usuário.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CB2BA-A826-4A23-A539-924850C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5DB5B-A80F-4AAE-9260-FFC4181D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063361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0C083-CFAD-427E-98E4-A2649AEB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4A989-6A89-4EBF-A1FA-932B321A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7b801a64244f4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624EA-63A3-4C3D-9D62-90423601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FCB7D-2194-4E07-BE21-7AF8880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 wizard à pontuação das trilhas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8051D-6B06-4031-B5FC-A48BAA7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perfil normalizado reúne sinais antes de qualquer item ser classificado.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558EC-C59A-4014-BDA9-B2D1052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função perfilDasRespostas transforma respostas do wizard em propriedades operacionais, como tecnologia principal, maturidade, necessidade de lógica, experiência e bases de API ou banco. pontuarTrilha usa esse perfil para somar afinidades e aplicar proteções.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8BF1E-CB83-4B0B-B0EA-0858A6D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BCB50-26B2-4A4E-9AE0-BF51DBBF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src/servicos/recomendacoes.js • linhas 350–390 e 579–665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A41D3-7CCB-45F0-9C41-2C213623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const perfil = perfilDasRespostas(respostas)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let pontos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(trilha.area === areaDesejada) pontos += 90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(combinaStack) pontos += 82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(trilhasProfissionais.has(trilha.id)) pontos += 70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(ehDependenciaDaStack) pontos += perfilInicial ? 54 : 22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(ehComplementoDaStack) pontos += objetivoPrimeiraVaga ? 34 : 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(!podeRecomendarTrilhaProfissional(trilha, perfil)) return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2DC58-F4AD-4C0D-BC81-DB9ECC17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31670-2EA4-4E25-AA94-CB0DFB5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35393-1692-44A7-8DE9-480E3B8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Como interpretar os pesos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7E8FE-BCDB-4F90-9D7E-93DF5283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Os valores não representam probabilidade. São prioridades relativas para ordenar o catálogo. Área e stack têm grande influência; dependências e complementos entram com pesos menores; regras de proteção retornam zero para caminhos profissionais incoerentes.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29CEE-3925-498A-8552-11D23462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2D459-CFED-4406-8E99-D8F169A5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B1E95-62E4-47F6-B437-5E56BE6B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Exemplo DevOps/API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542D2-6242-4166-83E3-D18AA36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Uma trilha DevOps pode receber +90 pela área, +82 pela stack e +70 por ser profissional. API REST entra como complemento; Java/Spring não recebe esses bônus sem escolha explícita. Depois, as trilhas são ordenadas.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AF07B-14BB-4E8B-BFDF-C625B0D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E5D16-6FED-4FEB-BC63-EEA1F859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4DB9B-F992-4184-8A90-7A49BF2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C25B0-AFC2-437B-8548-06BE53E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EDB20-36D8-46D0-BBC3-E2E258A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492684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D5DC9-F17B-43E0-A15C-9B82408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6E36D-AE22-4A8A-8AD1-B9CDBF8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00b171bf7407f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098F5-F2B7-4838-B675-718B5E9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EBB6D-3F44-468D-A06E-9A0D4443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Seleção final evita repetição e competição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6C52D-8543-4DF7-A5EB-E953220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Pontuar bem não basta: a lista final passa por deduplicação e organização por família.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40A78-CAA9-4D2A-B31A-E2FE2303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Depois de ordenar as trilhas, selecionarTrilhasEssenciais monta uma lista menor. Ela substitui uma trilha inicial por uma profissional da mesma família, evita jornadas equivalentes e impede que cursos principais sejam repetidos entre cards recomendados.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BB31D-90B0-45A7-A4AE-97E05CE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EB491-46DD-41AE-9AF1-DB1C9E8A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src/servicos/recomendacoes.js • linhas 1067–1081 e 1160–1188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7A4BE-8F74-44B6-89CC-DEAC5135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const ordenadas = trilhas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.map(trilha =&gt; ({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  ...trilha,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  pontuacao: pontuarTrilha(trilha, perfil),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  motivo: motivoDaTrilha(trilha, perfil),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}))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.sort((a, b) =&gt; b.pontuacao - a.pontuacao)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(mesmaFamilia &amp;&amp; selecionadaProfissional &amp;&amp; !candidataProfissional) return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(trilha.cursoIds?.some(id =&gt; cursosPrincipaisSelecionados.has(id))) 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03F9E-3A05-4DD2-B734-D5B29C82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2A7B3-1AD4-4BDF-ACFC-AAE6F47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2554D-2306-49BC-8894-3E46623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Estrutura usada nas trilhas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2107E-FEC5-4CC0-ADD3-5E8291E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Em src/dados/trilhas.js, cada trilha declara familia, preRequisitos, cursoIds e complementos. O primeiro curso principal fornece thumbnail quando não existe imagem própria. Pré-requisitos não devem dominar o card.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AABFC-D87F-43B1-8E92-74B4D41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350E0-FADC-4FE3-ABA8-E9F7F59B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6A2CB-BF5E-4538-A031-2E44FD95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Resultado prático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91414-0554-4D24-BB75-80A10E6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DevOps e Cloud Profissional pode substituir DevOps Base. Linux e Segurança aparecem como apoios diferentes. Git permanece pré-requisito e não vira o primeiro conteúdo visual repetido em todos os cards.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6B089-3FD2-4353-963B-A27EC0EC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2DE46-DD1E-4016-8B1E-B6759694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7EB90-33CB-4F8B-8AE6-F1DF40B1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DA7A2-7712-4A02-B1C5-2AC93581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145AD-F4F2-4565-917E-F0D3D4A1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005965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9B55F-3B19-4757-AD9E-D9E8072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43DE2-71DE-48D0-8185-24FC6176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ad5b8816a4163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B51AD-22D0-4B1B-92DD-A08111D3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81B93-ABA4-4874-93B0-40936DB1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o radar de prontidão é calculado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E9719-A3E6-4FC5-A2F7-2DAE69FB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pontuação combina completude, aprendizado e força das evidências.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0685F-0756-4ABB-9E04-D5906A14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calcularProntidaoAluno soma pesos objetivos e limita o resultado a 100. identificarLacunasAluno gera pendências; gerarProximaMelhorAcaoAluno escolhe a primeira lacuna como ação executável. Para uma vaga, o radar combina prontidão geral, tags e projeto aderente.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70198-8170-42E4-B3DA-DFF5D0B5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A3272-6DAB-4013-999D-C055725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src/servicos/prontidaoCandidatura.js • linhas 128–224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2C35-2F2F-4925-9DF5-47F6550F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tituloPreenchido ? 8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bioConsistente ? 8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githubReal ? 10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objetivoCurriculo ? 8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projetoComEvidencia ? 20 : projetoPlanejado ? 2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trilhaIniciada ? 7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cursoConcluido ? 5 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scoreVaga = geral * 0.72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        + alinhamentoTags * 0.23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        + (projetoAlinhado ? 5 : 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E4D90-CE49-49C9-98AC-10EFFE4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DD7D0-78DF-4C22-BB38-3E5A6C8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95616-C528-40BB-BF38-976B6B11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Por que evidência pesa mais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8795D-40B5-44DB-A944-1458C886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Projeto planejado demonstra intenção e soma apenas 2 pontos. Projeto concluído com GitHub ou deploy soma 20 pontos porque oferece evidência prática. O radar também identifica GitHub ausente, currículo incompleto e falta de projeto.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A7AD9-EDD2-48E9-A2CC-25896E3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7B4DE-E21C-4AF2-A34F-509DA986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93D2C-2343-4118-8E43-73429DA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Exemplo numérico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35FA5-BE52-48AD-BED3-A500DD5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Com prontidão geral 60, alinhamento de tags 70 e projeto alinhado, o resultado específico é aproximadamente 60×0,72 + 70×0,23 + 5 = 64%. O radar orienta, mas não bloqueia.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C7852-E6A4-4AE5-A882-7AA748C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14FC3-6C95-4507-A107-7418BDA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84C24-0B9D-4E90-B7C1-22EC1C37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7DDF0-E230-4C9A-978A-2F49A02A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B16E0-048F-483D-9444-03D0ADE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271229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551CD-2FE0-4CEA-AA91-3EFE9226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0493D-DD2A-4340-8F41-57C3F5E0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578f5a3dd4a3c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61621-3186-4CF0-9771-AE90AA27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55704-EF20-4581-97C5-96FD71D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Qualidade da vaga e dossiê usam critérios diferentes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5486B-1241-4437-B6EC-B2F80CA7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vaga é avaliada pela clareza; o candidato, pela aderência e pelas evidências disponíveis.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9300-3D14-40EE-BF51-E05FC2E2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analisarQualidadeVaga verifica o conteúdo completo e separa erros, alertas e sugestões. A compatibilidade compara tecnologias da vaga com o contexto do candidato e adiciona evidências reais, mantendo limites para evitar conclusões excessivas.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F1B13-86C6-4C9C-AA93-62F07D77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84BA8-056D-47E6-9302-E8BEAAC5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src/servicos/empresaInteligencia.js • linhas 100–185 e 220–270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C1970-4E7C-42BD-8DAD-74C368E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// Qualidade da vaga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= 100 - erros.length * 14 - alertas.length * 8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coerencia = 100 - alertas.length *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// Compatibilidade do candidato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= (compatibilidades / tags) * 65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Math.min(20, evidencias.length * 5)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nivelCompativel ? 8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+= remotoOuLocalizacao ? 7 : 0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score = limitar(score, 15, 96)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D8577-5BDF-42F6-B60E-982883DC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8D3F6-FC8E-4F4A-BA82-AE5EA78F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0B2EA-17AB-4895-9CBB-C4E4369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Análise da vaga como conjunto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D609C-C696-47C5-9C66-2521156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Tags são procuradas em título, descrição, requisitos e atividades, incluindo sinônimos. Assim, React citado nos requisitos ou atividades não gera falso alerta apenas por não estar repetido na descrição.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40A35-6390-4812-A8FF-699A8512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8F4C0-0600-4C82-9A9F-D2519F1D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1FA34-E8BC-4648-89E8-F9ECD317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Cuidado na leitura do candidato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FACEB-183B-4F6B-956C-63B01D93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Evidências como cursos, projetos e GitHub aumentam o score. Ausência de dados produz análise cautelosa. Compatibilidades e lacunas são apoio; a decisão continua com a empresa.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2D1A5-8E6B-4BA1-A3D2-726CBC61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8A59C-295C-48D2-A05A-D193D7E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A134D-916E-4B4C-ADF9-04E6B86D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024AC-2A4E-47D7-B265-4B72DF8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CDF4F-8DAA-431B-B55A-58B6B39A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4330961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6F6A90-2FB5-4DF2-B6F9-701E1764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622F1-9C22-4471-8C4A-F84FBC95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a60833d014804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60385-B667-47C1-A68F-39460001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654A8-BE3E-49FC-87D8-B681DB80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Onde a IA entra no fluxo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ECE44-D69C-49F9-B01D-7297673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centralIA executa, valida e devolve IA ou fallback usando o mesmo contrato.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C2606-6DF6-449A-AD32-A5E18A5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Os serviços montam contexto limitado e fallback antes da chamada. Se a IA estiver desativada, indisponível, exceder timeout ou produzir resposta inválida, executarIAComSeguranca retorna o fallback. A interface não precisa conhecer Ollama nem tratar erro técnico.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8CAFE-1A33-4294-94C7-FAECA01C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9D7DB-5707-4F62-A31F-E042695D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src/servicos/centralIA.js • linhas 1–30, 105–140 e 185–224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45A4E-C0EC-4CFA-B1C4-9544D81D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const fallback = resolverFallback(...)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(!iaEstaHabilitada())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return { origem: 'fallback', conteudo: fallback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const bruta = await chamarIAComTimeout({ system, prompt })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const resposta = formato === 'json'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? extrairJSONSeguro(bruta)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: normalizarRespostaIA(bruta)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if (!validarResposta(resposta))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return { origem: 'fallback', conteudo: fallback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return { origem: 'ia', conteudo: resposta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1C533-611A-4824-8A6A-A62E93F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21B7E-6F88-46BC-930A-26585A4C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D988-C411-4679-A3A3-BAF38E47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Configuração local e opcional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1AA00-7833-44A8-9F04-05E38F07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configIA lê habilitação, endpoint local, modelo e timeout. O padrão é desativado. Ollama usa /api/chat, sem chave e sem API paga. A central só considera a IA habilitada quando a configuração e o endpoint local são válidos.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8A156-3523-403F-A9AF-5E3EA8E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F2EC8-1CFB-4FC6-9239-A7571DD6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3423B-41CF-46C2-A38D-98638A40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Guardrails compartilhados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2D5B1-DB13-45FF-AF92-723CE572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prompt-base proíbe invenções, alteração de pontuação, publicação, aprovação e rejeição. Cada tipo possui formato e limite. Respostas inválidas viram fallback seguro.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3319F-EBE0-4F27-A4CD-B693AAF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9CC41-A16D-4CB0-86B3-D669E63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031DD-AF7E-458E-AA0A-19E30BDC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9831B-5014-4436-9A0B-9D36C0D1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3C6FC-A340-4B47-94F4-5F76923B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288403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25F82-D295-422C-B0C8-78BE3006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A62B0-E4EB-4AF4-881B-11AE9881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a15b001e14837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AE6D0-3CE6-4D0E-AFFD-E17B9DD9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91AC0-CFBE-43D8-B236-C821D39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o mentor utiliza resultados já calculados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3F54E-382C-4CDF-A6AD-7CDB5666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O mentor recebe contexto resumido, não objetos completos nem dados sensíveis.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9DFCA-5D8D-4ACD-AA6C-CC5EEA0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montarContextoMentorAluno seleciona primeiro nome, respostas relevantes, top trilhas, cursos, vagas, motivos, pontuações e campos do currículo. gerarComMentor cria o fallback primeiro, usa cache por usuário/cenário/contexto e chama a central com validação específica.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47B91-CE71-48DC-865A-D26EC8D7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CFE70-0A0B-4403-BF9E-02217855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src/servicos/mentorIA.js • montarContextoMentorAluno e gerarComMentor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E3ED7-2607-4B8D-9604-D3F8E1BE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contexto = {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nome, areaDesejada, focoCarreira,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nivelProgramacao, tecnologiaInteresse, objetivo,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trilhas: top3, cursos: top5, vagas: top3,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curriculo: { camposPreenchidos, camposFaltando }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fallback = gerarTextoFallback(contexto, cenario)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resultado = executarIAComSeguranca({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tipo: MENTOR_ALUNO, contexto, fallback,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  validarResposta: respostaValida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01D6F-F2D9-4E44-B4A0-9ED7A98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9A759-30EF-4E70-BF2E-96AC3E15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9258A-59EC-4629-A166-DBDBD4F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O que não é enviado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1F95-7D9D-4C74-8D0D-61C72BA0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Senha, CPF, localStorage completo e objetos enormes não fazem parte do contexto. Títulos permitidos são usados para rejeitar respostas que inventem ou citem cursos, trilhas e vagas fora das recomendações.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99386-F23A-4F64-941E-C635B57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E12A7-1DB4-4188-86F1-A9162C8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B7AE6-8229-414E-B366-137BC43A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Fluxo visível para o usuário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9F715-4AE5-49BC-99E1-A6643FE4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 bolha sempre mostra orientação. Com IA, a redação pode ficar mais personalizada; sem IA, o fallback explica o mesmo resultado. A origem permanece interna.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3682D-9C49-4B33-A972-BCE9720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9BF29-217F-4580-AD0D-972DE411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51C97-F1F6-401E-AA8E-60C21CE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21F56-A872-4587-BEE5-586AAD5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EE851-98E2-4297-8667-1E7FC4F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943798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C5E99-9153-4D76-9F6B-FAAE670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AB0E9-1541-4E79-9C9D-37E3FF2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APROFUNDAMENTO TÉCNICO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d3d9c5f4b4a19"/>
          <a:stretch xmlns:a="http://schemas.openxmlformats.org/drawingml/2006/main"/>
        </p:blipFill>
        <p:spPr>
          <a:xfrm xmlns:a="http://schemas.openxmlformats.org/drawingml/2006/main">
            <a:off x="10048875" y="295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280A6-B1C9-4099-AE0D-F664F4D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7FB92-92F0-42BB-8247-136E1BDF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Rastreabilidade técnica por funcionalidade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25D59-3112-40A5-AEF1-97D41FC8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Cada experiência visual possui um serviço responsável e uma fronteira clara.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57D27-0CA2-4259-A5D4-CEFEAB4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arquitetura distribui cálculos e textos em serviços pequenos. Isso permite demonstrar tecnicamente que a IA não controla a lógica central e facilita validar ou evoluir cada parte de forma independente.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77F6F-89FD-4F32-9CB5-E83C7B8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72B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2C66A-3FB2-4EC6-A8B7-040D0711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Mapa de arquivos principais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09600-D701-4BA1-A830-970A6009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Wizard e recomendações  → src/servicos/recomendacoes.js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Estrutura das trilhas    → src/dados/trilhas.js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Radar e próxima ação     → src/servicos/prontidaoCandidatura.js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Projetos como evidência  → src/servicos/projetosPraticos.js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Qualidade da vaga        → src/servicos/empresaInteligencia.js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Dossiê do candidato      → src/servicos/analiseCandidaturaEmpresa.js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Retorno ao aluno         → src/servicos/retornoCandidaturaAluno.js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IA e fallback central    → src/servicos/centralIA.js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Mentor do aluno          → src/servicos/mentorIA.js</a:t>
            </a:r>
          </a:p>
          <a:p xmlns:a="http://schemas.openxmlformats.org/drawingml/2006/main">
            <a:pPr>
              <a:defRPr sz="788" b="0">
                <a:solidFill>
                  <a:srgbClr val="D6E4F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6E4F7"/>
                </a:solidFill>
                <a:latin typeface="Aptos"/>
                <a:ea typeface="Aptos"/>
                <a:cs typeface="Aptos"/>
              </a:rPr>
              <a:t>IA da empresa            → src/servicos/empresaIA.js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5D9A5-3E22-41A4-A4A1-DA82E540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F4093-3C00-4C03-9AE4-DF48DCDE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41AC8-EA7C-453E-A200-0E78B155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Como apresentar tecnicamente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86220-89CA-4503-BA11-BAC0A667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Comece pela regra que calcula o resultado, mostre o objeto produzido e só então explique como a IA recebe um resumo para redigir orientação. Essa ordem demonstra separação entre decisão, explicação e interface.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B6B90-69A7-4079-BAD2-7633A92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FCAD2-4F29-42BE-8FCF-9EF7EBA6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00475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6D938-D6E3-4CD9-8DA3-C1BE1C87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Mensagem para avaliadores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BEAED-3038-4585-8AF1-F1CF5422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O diferencial técnico não é apenas usar IA. É combinar regras explicáveis, evidências graduais, validações e uma camada textual opcional que falha de forma segura.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5DD03-D48F-43B3-A7BC-7E228445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96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D7E1D-EACF-406D-B455-80A75D39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17C3B2"/>
                </a:solidFill>
                <a:latin typeface="Aptos Display"/>
                <a:ea typeface="Aptos Display"/>
                <a:cs typeface="Aptos Display"/>
              </a:rPr>
              <a:t>LEITURA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00203-C6E3-464C-B699-648DE49B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959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Trecho real simplificado para documentação; a implementação completa permanece no arquivo indicado.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D938F-0262-4AED-8642-1314A6B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9F259-B71C-4D30-A6A8-EC5E04BC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68051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3a58abac14a4d"/>
          <a:stretch xmlns:a="http://schemas.openxmlformats.org/drawingml/2006/main"/>
        </p:blipFill>
        <p:spPr>
          <a:xfrm xmlns:a="http://schemas.openxmlformats.org/drawingml/2006/main">
            <a:off x="666750" y="5238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363EB-E102-4F8F-B52D-D99CF3F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09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272DF-0984-4F53-9AEE-2C85D157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Explore o produto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 continue a jornada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04568-3E83-4D2C-A45C-17203B7E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8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8DF"/>
                </a:solidFill>
                <a:latin typeface="Aptos"/>
                <a:ea typeface="Aptos"/>
                <a:cs typeface="Aptos"/>
              </a:rPr>
              <a:t>A documentação conecta visão de produto, experiência visual e implementação técnica. Use a página Coday para acessar o sistema, testar as contas demo e consultar o repositório.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D7680-0DF5-4087-A912-37412DFF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DC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CE1C-BC54-492E-87E5-21B87A5C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868F0"/>
                </a:solidFill>
                <a:latin typeface="Aptos Display"/>
                <a:ea typeface="Aptos Display"/>
                <a:cs typeface="Aptos Display"/>
              </a:rPr>
              <a:t>[INSERIR PRINT]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57EB6-9F3A-4B76-92BB-401B210A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QR Code para a página /coday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7C435-A950-4E02-8D81-2E38FAF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85CB5-62C2-4371-B67B-64965FD0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0919C-7E42-4224-9D48-72A2B3A0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Aluno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E09B7-26FB-400C-8E80-11584F0C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2533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aluno.demo@trilum.demo</a:t>
            </a:r>
          </a:p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Senha: Aluno@123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18EE2-059B-404F-A6E3-905529E6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8D9AD-CB15-470F-94B0-EFBCB8D0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0C577-D3C3-41F6-B5B2-F92153C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95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1B2C"/>
                </a:solidFill>
                <a:latin typeface="Aptos Display"/>
                <a:ea typeface="Aptos Display"/>
                <a:cs typeface="Aptos Display"/>
              </a:rPr>
              <a:t>Empresa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EB0C9-1289-45D5-A9B3-71BFB31D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05325"/>
            <a:ext cx="2533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empresa.demo@trilum.demo</a:t>
            </a:r>
          </a:p>
          <a:p xmlns:a="http://schemas.openxmlformats.org/drawingml/2006/main">
            <a:pPr>
              <a:defRPr sz="863" b="0">
                <a:solidFill>
                  <a:srgbClr val="61718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18C"/>
                </a:solidFill>
                <a:latin typeface="Aptos"/>
                <a:ea typeface="Aptos"/>
                <a:cs typeface="Aptos"/>
              </a:rPr>
              <a:t>Senha: Empresa@123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96985-6035-4CE1-9171-2697CDF9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26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213D"/>
          </a:solidFill>
          <a:ln xmlns:a="http://schemas.openxmlformats.org/drawingml/2006/main" w="9525">
            <a:solidFill>
              <a:srgbClr val="2944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393BD-89DB-42AC-904E-E264B84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Regras decidem. Evidências fortalecem. A IA explica e melhora a comunicação.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8F4F8-495A-4FE9-8B5E-08C54AD0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AFC0D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FC0DA"/>
                </a:solidFill>
                <a:latin typeface="Aptos"/>
                <a:ea typeface="Aptos"/>
                <a:cs typeface="Aptos"/>
              </a:rPr>
              <a:t>DOCUMENTAÇÃO VISUAL • CODAY 2026.1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71CC0-3043-409D-A746-EF4898C7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AFC0DA"/>
                </a:solidFill>
                <a:latin typeface="Aptos Display"/>
                <a:ea typeface="Aptos Display"/>
                <a:cs typeface="Aptos Display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683292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2026-06-15T05:07:36.5050000Z</dcterms:created>
  <dcterms:modified xsi:type="dcterms:W3CDTF">2026-06-15T05:07:36.5050000Z</dcterms:modified>
</coreProperties>
</file>