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7c3d4bd9ec443c" /><Relationship Type="http://schemas.openxmlformats.org/officeDocument/2006/relationships/extended-properties" Target="/docProps/app.xml" Id="R983cc1ce9f014912" /><Relationship Type="http://schemas.openxmlformats.org/officeDocument/2006/relationships/officeDocument" Target="/ppt/presentation.xml" Id="R1d8e693e177b4e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a61087bf5b444d"/>
  </p:sldMasterIdLst>
  <p:notesMasterIdLst>
    <p:notesMasterId xmlns:r="http://schemas.openxmlformats.org/officeDocument/2006/relationships" r:id="Rb56859975f4c42c3"/>
  </p:notesMasterIdLst>
  <p:sldIdLst>
    <p:sldId xmlns:r="http://schemas.openxmlformats.org/officeDocument/2006/relationships" id="256" r:id="R14a6f48b3a3b420c"/>
    <p:sldId xmlns:r="http://schemas.openxmlformats.org/officeDocument/2006/relationships" id="257" r:id="Ra86ec7db86974e78"/>
    <p:sldId xmlns:r="http://schemas.openxmlformats.org/officeDocument/2006/relationships" id="258" r:id="R9d6449cd00294099"/>
    <p:sldId xmlns:r="http://schemas.openxmlformats.org/officeDocument/2006/relationships" id="259" r:id="R616a253ce6194421"/>
    <p:sldId xmlns:r="http://schemas.openxmlformats.org/officeDocument/2006/relationships" id="260" r:id="R7227a197fd3e4b7f"/>
    <p:sldId xmlns:r="http://schemas.openxmlformats.org/officeDocument/2006/relationships" id="261" r:id="Rfc19a1f13167452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60526d06034307" /><Relationship Type="http://schemas.openxmlformats.org/officeDocument/2006/relationships/slideMaster" Target="/ppt/slideMasters/slideMaster1.xml" Id="R45a61087bf5b444d" /><Relationship Type="http://schemas.openxmlformats.org/officeDocument/2006/relationships/notesMaster" Target="/ppt/notesMasters/notesMaster1.xml" Id="Rb56859975f4c42c3" /><Relationship Type="http://schemas.openxmlformats.org/officeDocument/2006/relationships/presProps" Target="/ppt/presProps.xml" Id="R52c0e7e37cfc4d00" /><Relationship Type="http://schemas.openxmlformats.org/officeDocument/2006/relationships/tableStyles" Target="/ppt/tableStyles.xml" Id="Rf9eb1efe3b874c57" /><Relationship Type="http://schemas.openxmlformats.org/officeDocument/2006/relationships/slide" Target="/ppt/slides/slide1.xml" Id="R14a6f48b3a3b420c" /><Relationship Type="http://schemas.openxmlformats.org/officeDocument/2006/relationships/slide" Target="/ppt/slides/slide2.xml" Id="Ra86ec7db86974e78" /><Relationship Type="http://schemas.openxmlformats.org/officeDocument/2006/relationships/slide" Target="/ppt/slides/slide3.xml" Id="R9d6449cd00294099" /><Relationship Type="http://schemas.openxmlformats.org/officeDocument/2006/relationships/slide" Target="/ppt/slides/slide4.xml" Id="R616a253ce6194421" /><Relationship Type="http://schemas.openxmlformats.org/officeDocument/2006/relationships/slide" Target="/ppt/slides/slide5.xml" Id="R7227a197fd3e4b7f" /><Relationship Type="http://schemas.openxmlformats.org/officeDocument/2006/relationships/slide" Target="/ppt/slides/slide6.xml" Id="Rfc19a1f1316745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48d44f002444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a3ae159daa4cd2" /><Relationship Type="http://schemas.openxmlformats.org/officeDocument/2006/relationships/notesMaster" Target="/ppt/notesMasters/notesMaster1.xml" Id="Ra00613e3b00a47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b717b97af3402e" /><Relationship Type="http://schemas.openxmlformats.org/officeDocument/2006/relationships/notesMaster" Target="/ppt/notesMasters/notesMaster1.xml" Id="R24e713f33c2542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43277f1a9349d6" /><Relationship Type="http://schemas.openxmlformats.org/officeDocument/2006/relationships/notesMaster" Target="/ppt/notesMasters/notesMaster1.xml" Id="R61932a9eefd54c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fc7587feb2416c" /><Relationship Type="http://schemas.openxmlformats.org/officeDocument/2006/relationships/notesMaster" Target="/ppt/notesMasters/notesMaster1.xml" Id="Rd113036ca3014a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620f10f34c4ac3" /><Relationship Type="http://schemas.openxmlformats.org/officeDocument/2006/relationships/notesMaster" Target="/ppt/notesMasters/notesMaster1.xml" Id="R6be9399e3c7d4b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19d119650842af" /><Relationship Type="http://schemas.openxmlformats.org/officeDocument/2006/relationships/notesMaster" Target="/ppt/notesMasters/notesMaster1.xml" Id="R8a01b5f9f6db4b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d7a3018a1a4f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302d562b5b4fa6" /><Relationship Type="http://schemas.openxmlformats.org/officeDocument/2006/relationships/slideLayout" Target="/ppt/slideLayouts/slideLayout1.xml" Id="R431a6ea73a2047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1a6ea73a2047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6957f825a4f91" /><Relationship Type="http://schemas.openxmlformats.org/officeDocument/2006/relationships/image" Target="/ppt/media/image.png" Id="R0c8cc611f6634643" /><Relationship Type="http://schemas.openxmlformats.org/officeDocument/2006/relationships/image" Target="/ppt/media/image2.png" Id="Rd92c559b70f44c77" /><Relationship Type="http://schemas.openxmlformats.org/officeDocument/2006/relationships/image" Target="/ppt/media/image3.png" Id="R11d13e50c17248b3" /><Relationship Type="http://schemas.openxmlformats.org/officeDocument/2006/relationships/image" Target="/ppt/media/image.svg" Id="Ra5fe698596464652" /><Relationship Type="http://schemas.openxmlformats.org/officeDocument/2006/relationships/notesSlide" Target="/ppt/notesSlides/notesSlide1.xml" Id="R62d7502efafa4c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817736faf4889" /><Relationship Type="http://schemas.openxmlformats.org/officeDocument/2006/relationships/notesSlide" Target="/ppt/notesSlides/notesSlide2.xml" Id="Rad04d8f0fe7542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4341f9c8b247d5" /><Relationship Type="http://schemas.openxmlformats.org/officeDocument/2006/relationships/image" Target="/ppt/media/image4.png" Id="R4173c9e5c950461a" /><Relationship Type="http://schemas.openxmlformats.org/officeDocument/2006/relationships/image" Target="/ppt/media/image5.png" Id="R75faa7cf47c54ac2" /><Relationship Type="http://schemas.openxmlformats.org/officeDocument/2006/relationships/image" Target="/ppt/media/image6.png" Id="Rfe5e822c6e1040e4" /><Relationship Type="http://schemas.openxmlformats.org/officeDocument/2006/relationships/notesSlide" Target="/ppt/notesSlides/notesSlide3.xml" Id="R57ea61c4611b46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4a6296f99489f" /><Relationship Type="http://schemas.openxmlformats.org/officeDocument/2006/relationships/image" Target="/ppt/media/image7.png" Id="R10e6e33068a649c6" /><Relationship Type="http://schemas.openxmlformats.org/officeDocument/2006/relationships/image" Target="/ppt/media/image8.png" Id="R93b6b87fe0714510" /><Relationship Type="http://schemas.openxmlformats.org/officeDocument/2006/relationships/image" Target="/ppt/media/image9.png" Id="R2f9c8e71f12744fd" /><Relationship Type="http://schemas.openxmlformats.org/officeDocument/2006/relationships/notesSlide" Target="/ppt/notesSlides/notesSlide4.xml" Id="R076946af755246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f2ea2434e9407c" /><Relationship Type="http://schemas.openxmlformats.org/officeDocument/2006/relationships/image" Target="/ppt/media/image10.png" Id="R00eee3f1ed6040c3" /><Relationship Type="http://schemas.openxmlformats.org/officeDocument/2006/relationships/image" Target="/ppt/media/image11.png" Id="R1ae7bd85c9b547a3" /><Relationship Type="http://schemas.openxmlformats.org/officeDocument/2006/relationships/image" Target="/ppt/media/image12.png" Id="R4a4a77bd9adc4ef3" /><Relationship Type="http://schemas.openxmlformats.org/officeDocument/2006/relationships/notesSlide" Target="/ppt/notesSlides/notesSlide5.xml" Id="R384f0d1e549b44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4271a601f045ad" /><Relationship Type="http://schemas.openxmlformats.org/officeDocument/2006/relationships/image" Target="/ppt/media/image13.png" Id="R7057fcbd679e458b" /><Relationship Type="http://schemas.openxmlformats.org/officeDocument/2006/relationships/image" Target="/ppt/media/image14.png" Id="Rfb9139b857364b28" /><Relationship Type="http://schemas.openxmlformats.org/officeDocument/2006/relationships/image" Target="/ppt/media/image15.png" Id="R91accb43f5ab4d77" /><Relationship Type="http://schemas.openxmlformats.org/officeDocument/2006/relationships/image" Target="/ppt/media/image2.svg" Id="R88e4b1521ad046aa" /><Relationship Type="http://schemas.openxmlformats.org/officeDocument/2006/relationships/notesSlide" Target="/ppt/notesSlides/notesSlide6.xml" Id="Rc7c1347c156a48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6AF943-EFE9-4AB5-B47A-ABC79F81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81400"/>
            <a:ext cx="122682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8cc611f6634643"/>
          <a:srcRect xmlns:a="http://schemas.openxmlformats.org/drawingml/2006/main" l="0" t="14300" r="0" b="143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619500"/>
            <a:ext cx="12192000" cy="3238500"/>
          </a:xfrm>
          <a:prstGeom xmlns:a="http://schemas.openxmlformats.org/drawingml/2006/main" prst="round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B340B-E480-47BB-BE7F-E64FB690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16641-ADA9-465E-ADA6-4BAA90AE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666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c559b70f44c77"/>
          <a:stretch xmlns:a="http://schemas.openxmlformats.org/drawingml/2006/main"/>
        </p:blipFill>
        <p:spPr>
          <a:xfrm xmlns:a="http://schemas.openxmlformats.org/drawingml/2006/main">
            <a:off x="552450" y="457200"/>
            <a:ext cx="590550" cy="590550"/>
          </a:xfrm>
          <a:prstGeom xmlns:a="http://schemas.openxmlformats.org/drawingml/2006/main" prst="roundRect">
            <a:avLst>
              <a:gd name="adj" fmla="val 19355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DA1AED-7A38-4F45-B97D-DE6CBCB2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4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TRILUM CONECTA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F59CC9-8C60-498D-B51B-DD52EEB7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90575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8BCD5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A8BCD5"/>
                </a:solidFill>
                <a:latin typeface="Aptos Display"/>
                <a:ea typeface="Aptos Display"/>
                <a:cs typeface="Aptos Display"/>
              </a:rPr>
              <a:t>CODAY 2026.1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77AD0A-B0AC-41AD-8891-9B1F0B0D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638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Acesse o projeto</a:t>
            </a:r>
          </a:p>
          <a:p xmlns:a="http://schemas.openxmlformats.org/drawingml/2006/main">
            <a:pPr algn="l">
              <a:defRPr sz="37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completo pelo QR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51C361-43C8-4D8A-BD2C-36EAB395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8610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Projeto em deploy, contas demo, documentação visual,</a:t>
            </a:r>
          </a:p>
          <a:p xmlns:a="http://schemas.openxmlformats.org/drawingml/2006/main">
            <a:pPr algn="l">
              <a:defRPr sz="1500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slide da apresentação e repositório em um só lugar.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42AC7E-DFA1-4015-9F0D-E102E0E2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5715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3BBD78-8175-4227-8315-A20C508F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Escaneie agora e explore depois da apresentação.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B5F677-BBB4-43A3-B816-532EDC7A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876300"/>
            <a:ext cx="3200400" cy="3905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4F8FF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A3FE6C-6CF9-4CA3-B31E-825D928B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181100"/>
            <a:ext cx="2514600" cy="25146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4F8FF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13e50c17248b3">
            <a:extLst>
              <a:ext uri="{96DAC541-7B7A-43D3-8B79-37D633B846F1}">
                <asvg:svgBlip xmlns:asvg="http://schemas.microsoft.com/office/drawing/2016/SVG/main" r:embed="Ra5fe6985964646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48650" y="1219200"/>
            <a:ext cx="2438400" cy="2438400"/>
          </a:xfrm>
          <a:prstGeom xmlns:a="http://schemas.openxmlformats.org/drawingml/2006/main" prst="roundRect">
            <a:avLst>
              <a:gd name="adj" fmla="val 4688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B212ED-5654-4DF9-A4AF-04D1A00E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67150"/>
            <a:ext cx="274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Página pública do Coday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4D86F3-5A63-4B87-BAF0-2568BB48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29100"/>
            <a:ext cx="274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3550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35506F"/>
                </a:solidFill>
                <a:latin typeface="Aptos"/>
                <a:ea typeface="Aptos"/>
                <a:cs typeface="Aptos"/>
              </a:rPr>
              <a:t>auhauhbr.github.io/Trilum-Conecta/#/coday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3F31C3-88F9-41E0-BE2E-567BEC7E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048250"/>
            <a:ext cx="1562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42D7A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8BF6DE-ED6E-4C3B-A5E7-9491653D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05400"/>
            <a:ext cx="1409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42D7A1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42D7A1"/>
                </a:solidFill>
                <a:latin typeface="Aptos Display"/>
                <a:ea typeface="Aptos Display"/>
                <a:cs typeface="Aptos Display"/>
              </a:rPr>
              <a:t>DEPLOY PÚBLICO</a:t>
            </a:r>
          </a:p>
        </p:txBody>
      </p:sp>
    </p:spTree>
    <p:extLst>
      <p:ext uri="{BB962C8B-B14F-4D97-AF65-F5344CB8AC3E}">
        <p14:creationId xmlns:p14="http://schemas.microsoft.com/office/powerpoint/2010/main" val="1078419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F9821B-FF24-4489-AF67-B1F37DC8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6759F-7EDE-4734-BF41-85C35AE8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Problema e proposta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056B1E-64FF-4E17-B2D3-ADF07E3D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7429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Dois lados da mesma jornada profissional.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40669-04C3-4C38-909F-5FF2807A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A73"/>
          </a:solidFill>
          <a:ln xmlns:a="http://schemas.openxmlformats.org/drawingml/2006/main" w="0">
            <a:solidFill>
              <a:srgbClr val="264A7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104BE-45D0-4B99-A284-A862170F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8BCD5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A8BCD5"/>
                </a:solidFill>
                <a:latin typeface="Aptos Display"/>
                <a:ea typeface="Aptos Display"/>
                <a:cs typeface="Aptos Display"/>
              </a:rPr>
              <a:t>TRILUM CONECTA · CODAY 2026.1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181AB4-C1C3-4CB6-ABD3-8025A5E8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5219700" cy="3562350"/>
          </a:xfrm>
          <a:prstGeom xmlns:a="http://schemas.openxmlformats.org/drawingml/2006/main" prst="roundRect">
            <a:avLst>
              <a:gd name="adj" fmla="val 4278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21EFBC-4C2A-4F7E-87CB-17BDB441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352550"/>
            <a:ext cx="5219700" cy="3562350"/>
          </a:xfrm>
          <a:prstGeom xmlns:a="http://schemas.openxmlformats.org/drawingml/2006/main" prst="roundRect">
            <a:avLst>
              <a:gd name="adj" fmla="val 4278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FBCD3-0EAB-4C67-9D52-C68B3B92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81150"/>
            <a:ext cx="990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353B69-195B-4E59-8E58-A85D63BB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838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ALUNO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E16673-C182-437D-AD6A-3FB60EF90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428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Direção para transformar</a:t>
            </a:r>
          </a:p>
          <a:p xmlns:a="http://schemas.openxmlformats.org/drawingml/2006/main">
            <a:pPr algn="l">
              <a:defRPr sz="20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estudo em oportunidade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DFF49-0159-42A7-AD3B-B44C1086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44767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429003-FC77-4E6A-8A68-64A37E57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D3E6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24C4B-3B0F-480A-80E6-3EA91D3F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49A01-BE0E-4291-ADA4-D1A53B3D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57525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Por onde começar?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A25DE4-9B4B-4D0C-8A4C-6CC130C3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43275"/>
            <a:ext cx="3733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O aluno precisa entender prioridades sem se perder entre cursos e stacks.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A16F53-A363-4BEE-A0C0-59C51A1E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44767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EB0E64-539F-4741-9169-87432295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481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8FF"/>
          </a:solidFill>
          <a:ln xmlns:a="http://schemas.openxmlformats.org/drawingml/2006/main" w="9525">
            <a:solidFill>
              <a:srgbClr val="2F78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E921F-670B-4CE0-B9AF-3633F713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B6981E-8203-4AA5-ACD9-C5267EEC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38625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Como provar evolução?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D42E21-942A-439A-A057-96F3EF81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24375"/>
            <a:ext cx="3733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Perfil, currículo e candidatura ficam mais fortes quando o estudo vira evidência.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AC36DD-FAF4-4077-93AE-91EE8732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581150"/>
            <a:ext cx="1123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8A5C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88BCA6-DD04-4393-B0F5-DF57D914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38300"/>
            <a:ext cx="971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A5CFF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8A5CFF"/>
                </a:solidFill>
                <a:latin typeface="Aptos Display"/>
                <a:ea typeface="Aptos Display"/>
                <a:cs typeface="Aptos Display"/>
              </a:rPr>
              <a:t>EMPRESA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319801-9614-4C77-B79D-4010A910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19300"/>
            <a:ext cx="428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Mais contexto para publicar</a:t>
            </a:r>
          </a:p>
          <a:p xmlns:a="http://schemas.openxmlformats.org/drawingml/2006/main">
            <a:pPr algn="l">
              <a:defRPr sz="20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e avaliar com clareza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3A2C93-AF53-4DB6-844A-3D7E4263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4767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9DB663-7ACB-4441-87EB-1F0BA2D7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67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A5CFF"/>
          </a:solidFill>
          <a:ln xmlns:a="http://schemas.openxmlformats.org/drawingml/2006/main" w="9525">
            <a:solidFill>
              <a:srgbClr val="8A5C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9043EA-A6C5-4A82-96A4-680283BD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242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91F122-4F85-4A6E-AF54-82CAA7A3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57525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Vagas pouco claras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D8CF63-112B-4AC0-843E-89CA5565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43275"/>
            <a:ext cx="3733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Requisitos genéricos e descrições fracas reduzem alinhamento e atratividade.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05B79C-AF37-465D-A56C-9BE59885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95750"/>
            <a:ext cx="44767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B7C8EA-F189-4C3B-8103-D7F4D256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481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8FF"/>
          </a:solidFill>
          <a:ln xmlns:a="http://schemas.openxmlformats.org/drawingml/2006/main" w="9525">
            <a:solidFill>
              <a:srgbClr val="2F78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B245AF-630F-413F-9585-C1527F03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053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4BE6DD-9044-4997-A0A9-8128A225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38625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Candidato além do currículo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8F6A52-C92A-49FC-B8BC-6D76F3F2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524375"/>
            <a:ext cx="3733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Cursos, projetos, perfil e evidências ajudam a interpretar pessoas em formação.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0B8B66-688D-4C86-8C6D-1D7ABCC6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57800"/>
            <a:ext cx="9144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8AB33B-71C5-4DFE-B397-695AD07D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4292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A proposta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3E84E0-F33B-489A-8FC5-4884FBF0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150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Conectar diagnóstico, aprendizado, prática, currículo, candidatura e análise de candidatos em uma única jornada.</a:t>
            </a:r>
          </a:p>
        </p:txBody>
      </p:sp>
    </p:spTree>
    <p:extLst>
      <p:ext uri="{BB962C8B-B14F-4D97-AF65-F5344CB8AC3E}">
        <p14:creationId xmlns:p14="http://schemas.microsoft.com/office/powerpoint/2010/main" val="14881205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72DAE9-1909-4FD0-ACD3-567F4ACE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AAC29-71D6-44A3-87B7-BD81C8A7C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Jornada do aluno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639C6-814F-439D-A71D-31A3D722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7429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Do diagnóstico inicial à evolução profissional.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BF3BAE-8855-4396-AAD1-E1613864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A73"/>
          </a:solidFill>
          <a:ln xmlns:a="http://schemas.openxmlformats.org/drawingml/2006/main" w="0">
            <a:solidFill>
              <a:srgbClr val="264A7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3E91E8-48CF-448B-AB62-C80DFF66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8BCD5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A8BCD5"/>
                </a:solidFill>
                <a:latin typeface="Aptos Display"/>
                <a:ea typeface="Aptos Display"/>
                <a:cs typeface="Aptos Display"/>
              </a:rPr>
              <a:t>TRILUM CONECTA · CODAY 2026.1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117EF-AC12-4BCD-ADA5-E919DFF7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3333750" cy="46863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3080CF-B172-43F6-937F-A4260CE1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3067050" cy="22288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73c9e5c950461a"/>
          <a:srcRect xmlns:a="http://schemas.openxmlformats.org/drawingml/2006/main" l="11842" t="0" r="118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524000"/>
            <a:ext cx="2990850" cy="2152650"/>
          </a:xfrm>
          <a:prstGeom xmlns:a="http://schemas.openxmlformats.org/drawingml/2006/main" prst="roundRect">
            <a:avLst>
              <a:gd name="adj" fmla="val 5310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ED308B-E0A9-47A8-83BA-D8F10F76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8FF"/>
          </a:solidFill>
          <a:ln xmlns:a="http://schemas.openxmlformats.org/drawingml/2006/main" w="9525">
            <a:solidFill>
              <a:srgbClr val="2F78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75797B-CC59-495A-92FD-97734A7D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1C45AB-4D21-4928-B837-873E0102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Diagnóstico inicial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47D36E-87C5-42A9-9551-6B137519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2914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O wizard identifica área, nível, tecnologias, objetivo e momento atual.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366C5F-CF34-4FD9-A572-E64688C2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352550"/>
            <a:ext cx="3333750" cy="46863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EBFBA8-A534-495C-B694-D583F6D2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485900"/>
            <a:ext cx="3067050" cy="22288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aa7cf47c54ac2"/>
          <a:srcRect xmlns:a="http://schemas.openxmlformats.org/drawingml/2006/main" l="12462" t="0" r="1246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1524000"/>
            <a:ext cx="2990850" cy="2152650"/>
          </a:xfrm>
          <a:prstGeom xmlns:a="http://schemas.openxmlformats.org/drawingml/2006/main" prst="roundRect">
            <a:avLst>
              <a:gd name="adj" fmla="val 5310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138245-BBF9-452F-A021-B896793D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290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8FF"/>
          </a:solidFill>
          <a:ln xmlns:a="http://schemas.openxmlformats.org/drawingml/2006/main" w="9525">
            <a:solidFill>
              <a:srgbClr val="2F78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C06658-4BE6-440A-9D69-16374A0A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814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00491C-5BE9-4DC3-9181-7248510D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671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Recomendações personalizadas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1018D8-246F-4E33-A924-6562ECF3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14850"/>
            <a:ext cx="2914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Trilhas, cursos e próximos passos são priorizados conforme o perfil.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66BFF8-A612-4498-8FBE-7B56D7B8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52550"/>
            <a:ext cx="3333750" cy="46863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B55FC1-61B7-4C56-A101-59142CE8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85900"/>
            <a:ext cx="3067050" cy="22288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e822c6e1040e4"/>
          <a:srcRect xmlns:a="http://schemas.openxmlformats.org/drawingml/2006/main" l="15358" t="0" r="1535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58150" y="1524000"/>
            <a:ext cx="2990850" cy="2152650"/>
          </a:xfrm>
          <a:prstGeom xmlns:a="http://schemas.openxmlformats.org/drawingml/2006/main" prst="roundRect">
            <a:avLst>
              <a:gd name="adj" fmla="val 5310"/>
            </a:avLst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D4A72A-CD49-4F9B-AA8F-94C6B361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290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8FF"/>
          </a:solidFill>
          <a:ln xmlns:a="http://schemas.openxmlformats.org/drawingml/2006/main" w="9525">
            <a:solidFill>
              <a:srgbClr val="2F78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C8005D-D6FC-4CF8-96FC-E4EAD85A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428A7D-1C62-4CA4-90FB-6F79C9C2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Evolução profissional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49E9A3-5D98-4584-B3D1-593415D1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14850"/>
            <a:ext cx="2914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Perfil, currículo, projetos e radar transformam estudo em preparação.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3079BE-903A-4A01-A848-7C0E998C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67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ABC8E5-F762-46D2-B2E8-C86D79D0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24500"/>
            <a:ext cx="800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WIZARD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87CB05-AA5C-4E26-B946-3F32AE61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467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0A8538-5764-41DD-8FF9-F63B81A5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524500"/>
            <a:ext cx="800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MENTOR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CA2A61-5ED9-48C9-A51B-571DC491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467350"/>
            <a:ext cx="895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7484CB-8471-4EDF-8DD1-796AC3B6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24500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RADAR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C28FEB-44C5-452B-BB23-F2913936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467350"/>
            <a:ext cx="1066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2F78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D4F923-6320-4BE7-861B-8F881B20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5245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78FF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2F78FF"/>
                </a:solidFill>
                <a:latin typeface="Aptos Display"/>
                <a:ea typeface="Aptos Display"/>
                <a:cs typeface="Aptos Display"/>
              </a:rPr>
              <a:t>PROJETOS</a:t>
            </a:r>
          </a:p>
        </p:txBody>
      </p:sp>
    </p:spTree>
    <p:extLst>
      <p:ext uri="{BB962C8B-B14F-4D97-AF65-F5344CB8AC3E}">
        <p14:creationId xmlns:p14="http://schemas.microsoft.com/office/powerpoint/2010/main" val="7198351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28DB5A-2266-4EFD-8792-4E1648B5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BB5D4B-0724-4D98-BF4F-95C2B0A5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Da recomendação à evidência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20D89-D5DE-4087-9BDF-2508CE67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7429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Os diferenciais mais fortes do lado aluno trabalham como uma sequência.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B9D2CF-CBD6-41BE-89B2-45EB9A4B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A73"/>
          </a:solidFill>
          <a:ln xmlns:a="http://schemas.openxmlformats.org/drawingml/2006/main" w="0">
            <a:solidFill>
              <a:srgbClr val="264A7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306CFC-393D-47DA-82CC-82943111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8BCD5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A8BCD5"/>
                </a:solidFill>
                <a:latin typeface="Aptos Display"/>
                <a:ea typeface="Aptos Display"/>
                <a:cs typeface="Aptos Display"/>
              </a:rPr>
              <a:t>TRILUM CONECTA · CODAY 2026.1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53DCE8-72B4-49F3-886E-6439A770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52550"/>
            <a:ext cx="6172200" cy="3181350"/>
          </a:xfrm>
          <a:prstGeom xmlns:a="http://schemas.openxmlformats.org/drawingml/2006/main" prst="roundRect">
            <a:avLst>
              <a:gd name="adj" fmla="val 4790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e6e33068a649c6"/>
          <a:srcRect xmlns:a="http://schemas.openxmlformats.org/drawingml/2006/main" l="0" t="2866" r="0" b="28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390650"/>
            <a:ext cx="6096000" cy="3105150"/>
          </a:xfrm>
          <a:prstGeom xmlns:a="http://schemas.openxmlformats.org/drawingml/2006/main" prst="roundRect">
            <a:avLst>
              <a:gd name="adj" fmla="val 4908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A6417E-A65D-4EFC-BFF0-B5985DDA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038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EB067E-AA14-4963-8C40-4EA4D47C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38300"/>
            <a:ext cx="1885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PAINEL + RADAR + MENTOR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222C99-C773-4D3F-AEBB-27FC6D29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24400"/>
            <a:ext cx="299085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b6b87fe0714510"/>
          <a:srcRect xmlns:a="http://schemas.openxmlformats.org/drawingml/2006/main" l="0" t="18331" r="0" b="183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4762500"/>
            <a:ext cx="2914650" cy="1524000"/>
          </a:xfrm>
          <a:prstGeom xmlns:a="http://schemas.openxmlformats.org/drawingml/2006/main" prst="roundRect">
            <a:avLst>
              <a:gd name="adj" fmla="val 750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A2386A-C554-424B-AF03-4C7A5BD1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724400"/>
            <a:ext cx="299085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9c8e71f12744fd"/>
          <a:srcRect xmlns:a="http://schemas.openxmlformats.org/drawingml/2006/main" l="2102" t="0" r="210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14750" y="4762500"/>
            <a:ext cx="2914650" cy="1524000"/>
          </a:xfrm>
          <a:prstGeom xmlns:a="http://schemas.openxmlformats.org/drawingml/2006/main" prst="roundRect">
            <a:avLst>
              <a:gd name="adj" fmla="val 7500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6FB59-963F-4844-A9E5-90393522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46482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761510-092B-4E0C-B3AA-5D8BB98F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543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D3E6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A277C5-396C-4733-9200-1FE2E7B8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002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27DB0D-AEA6-42E8-98D7-7BFDB559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53352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Recomendações explicáveis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324B50-357C-43BD-BB64-589D5212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19275"/>
            <a:ext cx="3905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Regras e pesos priorizam conteúdos e vagas coerentes com o perfil.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BFDCE5-632E-4189-96BD-351B6342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52700"/>
            <a:ext cx="46482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DD5E66-FD32-4456-BA46-739B7A26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05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8FF"/>
          </a:solidFill>
          <a:ln xmlns:a="http://schemas.openxmlformats.org/drawingml/2006/main" w="9525">
            <a:solidFill>
              <a:srgbClr val="2F78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B38605-DF39-42BA-8F3E-D1509D11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622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9D1C3E-FEBB-47E6-9112-7D7A77C5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9557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Mentor contextual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6F53CE-D385-4E23-A013-DD3A176E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81325"/>
            <a:ext cx="3905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Orienta a tela atual e transforma resultados em próximos passos claros.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66268A-C40B-4E3A-A3B5-4987ACF3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14750"/>
            <a:ext cx="46482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7CFEA9-89A2-4793-8ABA-80A71C82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671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D7A1"/>
          </a:solidFill>
          <a:ln xmlns:a="http://schemas.openxmlformats.org/drawingml/2006/main" w="9525">
            <a:solidFill>
              <a:srgbClr val="42D7A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4AEB9C-80C1-4EB9-B482-CB33B270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9243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27A18D-C401-4FA8-8E84-524CAE9F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85762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Radar de candidatura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80A7CA-EB70-4BF4-B5A0-C0BAF3FF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143375"/>
            <a:ext cx="3905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Mostra pontos fortes, lacunas e a próxima melhor ação sem bloquear.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2DBB69-C0BA-4B34-B737-69214651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876800"/>
            <a:ext cx="46482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DBC3B6-26DF-497E-A8EB-8462D32A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0292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A5CFF"/>
          </a:solidFill>
          <a:ln xmlns:a="http://schemas.openxmlformats.org/drawingml/2006/main" w="9525">
            <a:solidFill>
              <a:srgbClr val="8A5C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DAADE2-762A-4954-B583-63401473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0863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435926-784F-4D79-9137-A93CA5A2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19675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Projetos práticos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BED6A8-FAE8-4A70-B4A5-6DF0BB8E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305425"/>
            <a:ext cx="3905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Conectam estudo, tecnologias, GitHub, deploy, perfil e currículo.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8456F6-3B59-4301-968F-2CE8C867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6038850"/>
            <a:ext cx="46482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B4B26A-82FA-4081-B905-48AE96EF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6134100"/>
            <a:ext cx="434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900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IA melhora explicações e textos; regras e fallback mantêm o sistema confiável.</a:t>
            </a:r>
          </a:p>
        </p:txBody>
      </p:sp>
    </p:spTree>
    <p:extLst>
      <p:ext uri="{BB962C8B-B14F-4D97-AF65-F5344CB8AC3E}">
        <p14:creationId xmlns:p14="http://schemas.microsoft.com/office/powerpoint/2010/main" val="20075056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1E3667-8B77-4CD6-A166-C4473F05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63052-F9C4-42D6-8C12-CB9A5F8E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Jornada da empresa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E2A4D4-069B-4309-8543-6D1BF6FD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7429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Da presença institucional à análise humana apoiada por contexto.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22F3C-7685-4A62-AD41-38EBE4E9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A73"/>
          </a:solidFill>
          <a:ln xmlns:a="http://schemas.openxmlformats.org/drawingml/2006/main" w="0">
            <a:solidFill>
              <a:srgbClr val="264A7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E14F98-3D3C-4030-9F48-43534015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8BCD5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A8BCD5"/>
                </a:solidFill>
                <a:latin typeface="Aptos Display"/>
                <a:ea typeface="Aptos Display"/>
                <a:cs typeface="Aptos Display"/>
              </a:rPr>
              <a:t>TRILUM CONECTA · CODAY 2026.1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C1328-374D-4C99-BD69-974388CE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3333750" cy="478155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1CC3B5-2DC3-495B-81B8-B3B9D118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3067050" cy="2552700"/>
          </a:xfrm>
          <a:prstGeom xmlns:a="http://schemas.openxmlformats.org/drawingml/2006/main" prst="roundRect">
            <a:avLst>
              <a:gd name="adj" fmla="val 4478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eee3f1ed6040c3"/>
          <a:srcRect xmlns:a="http://schemas.openxmlformats.org/drawingml/2006/main" l="20891" t="0" r="208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524000"/>
            <a:ext cx="2990850" cy="24765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B39C09-B5CA-4E39-B23E-5C195F96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2381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4F1452-7B22-48CA-AD1A-7FB4A0A5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29100"/>
            <a:ext cx="2228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PERFIL INSTITUCIONAL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78EE8F-84A1-4ABA-A354-3298A2BA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Presença mais completa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8A0452-4BF7-497C-A585-9C70F4B9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2819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Setor, stack, cultura, diferenciais e força do perfil melhoram a confiança do candidato.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F22EAD-4C45-4153-B110-BE4BA922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352550"/>
            <a:ext cx="3333750" cy="478155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B10EC7-E86F-492F-9D2D-E26D3001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485900"/>
            <a:ext cx="3067050" cy="2552700"/>
          </a:xfrm>
          <a:prstGeom xmlns:a="http://schemas.openxmlformats.org/drawingml/2006/main" prst="roundRect">
            <a:avLst>
              <a:gd name="adj" fmla="val 4478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e7bd85c9b547a3"/>
          <a:srcRect xmlns:a="http://schemas.openxmlformats.org/drawingml/2006/main" l="2947" t="0" r="29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1524000"/>
            <a:ext cx="2990850" cy="24765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065D19-9665-4C26-ABF4-AE24EBE8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71950"/>
            <a:ext cx="2381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DEF62B-996E-4AC1-95A2-1E7E0F16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229100"/>
            <a:ext cx="2228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VAGAS MELHORES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75CEC9-5DE3-41FE-9073-FFE9C977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61010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Clareza antes de publicar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510C45-5478-4E13-96AC-3CA30DEF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067300"/>
            <a:ext cx="2819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Raio-X, preview e sugestões ajudam a revisar descrição, requisitos e atratividade.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894026-EB0B-4795-90C2-FD1FDD99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52550"/>
            <a:ext cx="3333750" cy="478155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B5492C-5A89-46AF-A657-5373FE75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85900"/>
            <a:ext cx="3067050" cy="2552700"/>
          </a:xfrm>
          <a:prstGeom xmlns:a="http://schemas.openxmlformats.org/drawingml/2006/main" prst="roundRect">
            <a:avLst>
              <a:gd name="adj" fmla="val 4478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a77bd9adc4ef3"/>
          <a:srcRect xmlns:a="http://schemas.openxmlformats.org/drawingml/2006/main" l="2853" t="0" r="28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58150" y="1524000"/>
            <a:ext cx="2990850" cy="24765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8A8A24-C63B-47EF-ACC3-EF1F5AAE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71950"/>
            <a:ext cx="2381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A6A75E-E586-4B88-B1B8-B1C14454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29100"/>
            <a:ext cx="2228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CANDIDATO COM CONTEXTO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F56AB3-0B11-4F4A-87E6-BEC9A3AD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61010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Evidências para decidir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501852-461C-426D-88D3-2162D397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067300"/>
            <a:ext cx="2819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Perfil, cursos, tecnologias, projetos e currículo apoiam a avaliação sem decisão automática.</a:t>
            </a:r>
          </a:p>
        </p:txBody>
      </p:sp>
    </p:spTree>
    <p:extLst>
      <p:ext uri="{BB962C8B-B14F-4D97-AF65-F5344CB8AC3E}">
        <p14:creationId xmlns:p14="http://schemas.microsoft.com/office/powerpoint/2010/main" val="404387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6573B3-977B-4250-8717-BBB3465F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-38100"/>
            <a:ext cx="12268200" cy="693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7fcbd679e458b"/>
          <a:srcRect xmlns:a="http://schemas.openxmlformats.org/drawingml/2006/main" l="6283" t="0" r="62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C7384-DF62-4C37-87B6-799A0AFC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42B9FB-19B7-4F12-A21C-FD49D11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5905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9139b857364b28"/>
          <a:stretch xmlns:a="http://schemas.openxmlformats.org/drawingml/2006/main"/>
        </p:blipFill>
        <p:spPr>
          <a:xfrm xmlns:a="http://schemas.openxmlformats.org/drawingml/2006/main">
            <a:off x="533400" y="4000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47999-F7C8-4628-A2F9-55E0C27D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0050"/>
            <a:ext cx="590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Principais diferenciais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CD1D1-6F1E-4C52-8469-D660A636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763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8BCD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8BCD5"/>
                </a:solidFill>
                <a:latin typeface="Aptos"/>
                <a:ea typeface="Aptos"/>
                <a:cs typeface="Aptos"/>
              </a:rPr>
              <a:t>Um produto que conecta aprendizado, evidência e oportunidade.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B688D-3BDE-4C1C-8C77-EAACDA6D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24193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01E2FF-E0FB-4BA8-8356-9958BB1A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24025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D3E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5BF9C9-14B7-45B8-84BC-6EF7C558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323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1D01AA-C9BE-407A-97D4-E4C1E0184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716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Wizard profissional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98E5B8-5CBE-4B32-8A77-F0857C41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562100"/>
            <a:ext cx="24193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DC217B-0309-49DF-B2C2-C76CD15F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724025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8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B5BAD1-7374-40E4-818D-0663603E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09750"/>
            <a:ext cx="323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8049DB-81F0-4C66-A9C0-78100165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716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Recomendações explicáveis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77C7EF-186E-443E-A7DB-61959C57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62100"/>
            <a:ext cx="24193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B88349-3298-48F1-91E4-28F9B979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24025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D3E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B5C763-72D9-4EE2-88EB-D6E76F87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323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3E9AE1-125C-413E-8C2E-89BF320E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716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Mentor contextual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77486-48CF-4EB9-84D3-44802D79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38400"/>
            <a:ext cx="24193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A74A77-5174-4F09-85D2-AF7C934E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0325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8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5606AE-8CF9-44DE-88D1-613AEED8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323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FA56A8-F8CF-4D5E-92D4-BECEB85B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479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Radar de candidatura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38CBD3-3E30-4DB8-AAD1-D832F0AC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38400"/>
            <a:ext cx="24193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CE193A-4130-4771-8B73-E899B020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00325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D3E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F77E59-9277-4F55-92EF-11D5BC2A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86050"/>
            <a:ext cx="323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56BC5D-7090-44F9-B96F-889AFE6A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479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Projetos como evidência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3586D3-FD20-4D4D-941B-7A0A9EF6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38400"/>
            <a:ext cx="24193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32B819-BA99-4950-96F3-FAE652B9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00325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8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C3A4E1-4FD7-47F0-8F98-FBD3E6D5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323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A4B3C9-1B1A-438A-AF20-E3974C6B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479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Currículo exportável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902072-2649-44D9-B19F-CDC25FF8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24193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10B9DE-2E62-45B7-A0BD-117867F2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D3E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1E1D07D-459D-4269-AA63-39CB2EEC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323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CCDD3D-99BF-4CC2-8A8E-5ACED361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242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Raio-X de vagas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0B8CF2-C3C2-4C40-A5EC-DC1AEF8D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14700"/>
            <a:ext cx="24193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84DA94-AFB6-4560-B364-3B9E4FE5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76625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8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2DC4CF-5541-4347-95BC-6D3BE31E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562350"/>
            <a:ext cx="323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08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FA289A-F13D-4D22-A163-87C8B644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242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Dossiê do candidato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12FCB1-F70C-402A-BF34-F379F1FF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14700"/>
            <a:ext cx="24193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B2346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F09C2B5-5623-4A56-84A1-8B96B2CB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76625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D3E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5387B7A-BE67-438E-A2D9-474F8E5B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562350"/>
            <a:ext cx="323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7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2C6476D-3D97-4B37-A0E9-38E338FC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242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Feedback mais humano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5627BB-A6E7-4EB7-8108-43C4382F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786765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102D55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54C8F4-579B-4448-91CF-7222BA56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7334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O Trilum Conecta transforma estudo em direção,</a:t>
            </a:r>
          </a:p>
          <a:p xmlns:a="http://schemas.openxmlformats.org/drawingml/2006/main">
            <a:pPr algn="l">
              <a:defRPr sz="19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4F8FF"/>
                </a:solidFill>
                <a:latin typeface="Aptos Display"/>
                <a:ea typeface="Aptos Display"/>
                <a:cs typeface="Aptos Display"/>
              </a:rPr>
              <a:t>prática em evidência e candidatura em contexto.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19CCDB-9575-41AF-A1A5-D0CD07F0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704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19D3E6"/>
                </a:solidFill>
                <a:latin typeface="Aptos Display"/>
                <a:ea typeface="Aptos Display"/>
                <a:cs typeface="Aptos Display"/>
              </a:rPr>
              <a:t>IA como apoio opcional · regras como fonte de verdade · fallback como garantia.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1688BEE-A743-4347-9F90-56EE4EE3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371600"/>
            <a:ext cx="2571750" cy="445770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4F8FF"/>
          </a:solidFill>
          <a:ln xmlns:a="http://schemas.openxmlformats.org/drawingml/2006/main" w="9525">
            <a:solidFill>
              <a:srgbClr val="19D3E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338672-5B2E-4527-8C02-4B82A13A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695450"/>
            <a:ext cx="1981200" cy="19812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4F8FF"/>
          </a:solidFill>
          <a:ln xmlns:a="http://schemas.openxmlformats.org/drawingml/2006/main" w="9525">
            <a:solidFill>
              <a:srgbClr val="264A7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accb43f5ab4d77">
            <a:extLst>
              <a:ext uri="{96DAC541-7B7A-43D3-8B79-37D633B846F1}">
                <asvg:svgBlip xmlns:asvg="http://schemas.microsoft.com/office/drawing/2016/SVG/main" r:embed="R88e4b1521ad046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229725" y="1733550"/>
            <a:ext cx="1905000" cy="1905000"/>
          </a:xfrm>
          <a:prstGeom xmlns:a="http://schemas.openxmlformats.org/drawingml/2006/main" prst="roundRect">
            <a:avLst>
              <a:gd name="adj" fmla="val 6000"/>
            </a:avLst>
          </a:prstGeom>
        </p:spPr>
      </p:pic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8BF5E22-1137-4F87-B85B-0E92E8C1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8620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Continue explorando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1DCEDC-51F3-4CE0-8FC4-167E14C6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48150"/>
            <a:ext cx="2114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35506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5506F"/>
                </a:solidFill>
                <a:latin typeface="Aptos"/>
                <a:ea typeface="Aptos"/>
                <a:cs typeface="Aptos"/>
              </a:rPr>
              <a:t>Projeto, contas demo,</a:t>
            </a:r>
          </a:p>
          <a:p xmlns:a="http://schemas.openxmlformats.org/drawingml/2006/main">
            <a:pPr algn="ctr">
              <a:defRPr sz="1050" b="0">
                <a:solidFill>
                  <a:srgbClr val="35506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5506F"/>
                </a:solidFill>
                <a:latin typeface="Aptos"/>
                <a:ea typeface="Aptos"/>
                <a:cs typeface="Aptos"/>
              </a:rPr>
              <a:t>documentação e repositório.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C0E1F04-90C9-4DCE-A87D-9AC30BB0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5105400"/>
            <a:ext cx="1676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42D7A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BCE9DC9-E8B1-475B-AB30-5C27719B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162550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42D7A1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42D7A1"/>
                </a:solidFill>
                <a:latin typeface="Aptos Display"/>
                <a:ea typeface="Aptos Display"/>
                <a:cs typeface="Aptos Display"/>
              </a:rPr>
              <a:t>ACESSO PÚBLICO</a:t>
            </a:r>
          </a:p>
        </p:txBody>
      </p:sp>
    </p:spTree>
    <p:extLst>
      <p:ext uri="{BB962C8B-B14F-4D97-AF65-F5344CB8AC3E}">
        <p14:creationId xmlns:p14="http://schemas.microsoft.com/office/powerpoint/2010/main" val="7841158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2026-06-15T09:29:32.7110000Z</dcterms:created>
  <dcterms:modified xsi:type="dcterms:W3CDTF">2026-06-15T09:29:32.7110000Z</dcterms:modified>
</coreProperties>
</file>