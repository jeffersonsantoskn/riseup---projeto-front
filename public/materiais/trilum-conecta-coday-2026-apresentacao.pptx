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af570be524327" /><Relationship Type="http://schemas.openxmlformats.org/officeDocument/2006/relationships/extended-properties" Target="/docProps/app.xml" Id="R996f5282cbc94c5a" /><Relationship Type="http://schemas.openxmlformats.org/officeDocument/2006/relationships/officeDocument" Target="/ppt/presentation.xml" Id="Ra7a514ab5502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8ce25128249be"/>
  </p:sldMasterIdLst>
  <p:notesMasterIdLst>
    <p:notesMasterId xmlns:r="http://schemas.openxmlformats.org/officeDocument/2006/relationships" r:id="Rda122d2dd7374b86"/>
  </p:notesMasterIdLst>
  <p:sldIdLst>
    <p:sldId xmlns:r="http://schemas.openxmlformats.org/officeDocument/2006/relationships" id="256" r:id="Re5598344047b42fb"/>
    <p:sldId xmlns:r="http://schemas.openxmlformats.org/officeDocument/2006/relationships" id="257" r:id="Rffeccbf484b34550"/>
    <p:sldId xmlns:r="http://schemas.openxmlformats.org/officeDocument/2006/relationships" id="258" r:id="Rfe4321dae465404c"/>
    <p:sldId xmlns:r="http://schemas.openxmlformats.org/officeDocument/2006/relationships" id="259" r:id="Rf701947241464c6e"/>
    <p:sldId xmlns:r="http://schemas.openxmlformats.org/officeDocument/2006/relationships" id="260" r:id="Rb4965ff1dfe54701"/>
    <p:sldId xmlns:r="http://schemas.openxmlformats.org/officeDocument/2006/relationships" id="261" r:id="Rf26a27f00bbb4f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ac288bcba478a" /><Relationship Type="http://schemas.openxmlformats.org/officeDocument/2006/relationships/slideMaster" Target="/ppt/slideMasters/slideMaster1.xml" Id="R0c28ce25128249be" /><Relationship Type="http://schemas.openxmlformats.org/officeDocument/2006/relationships/notesMaster" Target="/ppt/notesMasters/notesMaster1.xml" Id="Rda122d2dd7374b86" /><Relationship Type="http://schemas.openxmlformats.org/officeDocument/2006/relationships/presProps" Target="/ppt/presProps.xml" Id="R2e2a631499bf4ce4" /><Relationship Type="http://schemas.openxmlformats.org/officeDocument/2006/relationships/tableStyles" Target="/ppt/tableStyles.xml" Id="R2077352728104002" /><Relationship Type="http://schemas.openxmlformats.org/officeDocument/2006/relationships/slide" Target="/ppt/slides/slide1.xml" Id="Re5598344047b42fb" /><Relationship Type="http://schemas.openxmlformats.org/officeDocument/2006/relationships/slide" Target="/ppt/slides/slide2.xml" Id="Rffeccbf484b34550" /><Relationship Type="http://schemas.openxmlformats.org/officeDocument/2006/relationships/slide" Target="/ppt/slides/slide3.xml" Id="Rfe4321dae465404c" /><Relationship Type="http://schemas.openxmlformats.org/officeDocument/2006/relationships/slide" Target="/ppt/slides/slide4.xml" Id="Rf701947241464c6e" /><Relationship Type="http://schemas.openxmlformats.org/officeDocument/2006/relationships/slide" Target="/ppt/slides/slide5.xml" Id="Rb4965ff1dfe54701" /><Relationship Type="http://schemas.openxmlformats.org/officeDocument/2006/relationships/slide" Target="/ppt/slides/slide6.xml" Id="Rf26a27f00bbb4f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f4c24e8e4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2f4c2b0c614f3b" /><Relationship Type="http://schemas.openxmlformats.org/officeDocument/2006/relationships/notesMaster" Target="/ppt/notesMasters/notesMaster1.xml" Id="Rdaae86177072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9cee0b9394161" /><Relationship Type="http://schemas.openxmlformats.org/officeDocument/2006/relationships/notesMaster" Target="/ppt/notesMasters/notesMaster1.xml" Id="Rf3ef2bae093243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f3cdb8bd1d4086" /><Relationship Type="http://schemas.openxmlformats.org/officeDocument/2006/relationships/notesMaster" Target="/ppt/notesMasters/notesMaster1.xml" Id="R4bb657bd31cc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9ba576bcc4510" /><Relationship Type="http://schemas.openxmlformats.org/officeDocument/2006/relationships/notesMaster" Target="/ppt/notesMasters/notesMaster1.xml" Id="Ra4f62296af54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d807d68014c25" /><Relationship Type="http://schemas.openxmlformats.org/officeDocument/2006/relationships/notesMaster" Target="/ppt/notesMasters/notesMaster1.xml" Id="R45ff29f84c1946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2bba12a7004a34" /><Relationship Type="http://schemas.openxmlformats.org/officeDocument/2006/relationships/notesMaster" Target="/ppt/notesMasters/notesMaster1.xml" Id="Rb79068f86a92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e49ff77ff44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a9dc2e0c44d76" /><Relationship Type="http://schemas.openxmlformats.org/officeDocument/2006/relationships/slideLayout" Target="/ppt/slideLayouts/slideLayout1.xml" Id="R56a36d97bdcd4e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36d97bdcd4e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746145e9b4f13" /><Relationship Type="http://schemas.openxmlformats.org/officeDocument/2006/relationships/image" Target="/ppt/media/image.png" Id="Rce9d9d61edbd4d6e" /><Relationship Type="http://schemas.openxmlformats.org/officeDocument/2006/relationships/image" Target="/ppt/media/image2.png" Id="R0e7c6f708edd4250" /><Relationship Type="http://schemas.openxmlformats.org/officeDocument/2006/relationships/image" Target="/ppt/media/image3.png" Id="Rf4e5316c8e29460e" /><Relationship Type="http://schemas.openxmlformats.org/officeDocument/2006/relationships/notesSlide" Target="/ppt/notesSlides/notesSlide1.xml" Id="Rb1364045ed4a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bd04129514f50" /><Relationship Type="http://schemas.openxmlformats.org/officeDocument/2006/relationships/notesSlide" Target="/ppt/notesSlides/notesSlide2.xml" Id="Rd26a7ecdb34c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49b8253bb4f9f" /><Relationship Type="http://schemas.openxmlformats.org/officeDocument/2006/relationships/image" Target="/ppt/media/image4.png" Id="R89d31f07d45a4694" /><Relationship Type="http://schemas.openxmlformats.org/officeDocument/2006/relationships/image" Target="/ppt/media/image5.png" Id="R31dbcdf5e8014224" /><Relationship Type="http://schemas.openxmlformats.org/officeDocument/2006/relationships/image" Target="/ppt/media/image6.png" Id="R68ed85e8e41d4472" /><Relationship Type="http://schemas.openxmlformats.org/officeDocument/2006/relationships/notesSlide" Target="/ppt/notesSlides/notesSlide3.xml" Id="R0500dd245bb642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4f4d14a1c48c7" /><Relationship Type="http://schemas.openxmlformats.org/officeDocument/2006/relationships/image" Target="/ppt/media/image7.png" Id="Rf21b2680822b4a2c" /><Relationship Type="http://schemas.openxmlformats.org/officeDocument/2006/relationships/image" Target="/ppt/media/image8.png" Id="R4a10246fbd2c46f7" /><Relationship Type="http://schemas.openxmlformats.org/officeDocument/2006/relationships/image" Target="/ppt/media/image9.png" Id="R77d30e8f29e1414f" /><Relationship Type="http://schemas.openxmlformats.org/officeDocument/2006/relationships/notesSlide" Target="/ppt/notesSlides/notesSlide4.xml" Id="R1a10726ea262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3e640cee4f0e" /><Relationship Type="http://schemas.openxmlformats.org/officeDocument/2006/relationships/image" Target="/ppt/media/image10.png" Id="Rf0e6197db2f7465f" /><Relationship Type="http://schemas.openxmlformats.org/officeDocument/2006/relationships/image" Target="/ppt/media/image11.png" Id="Rd84466dd7e9d4514" /><Relationship Type="http://schemas.openxmlformats.org/officeDocument/2006/relationships/image" Target="/ppt/media/image12.png" Id="R97e76bb270bb470f" /><Relationship Type="http://schemas.openxmlformats.org/officeDocument/2006/relationships/notesSlide" Target="/ppt/notesSlides/notesSlide5.xml" Id="Rae2dc31dae7e42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b2feb447349c1" /><Relationship Type="http://schemas.openxmlformats.org/officeDocument/2006/relationships/image" Target="/ppt/media/image13.png" Id="R666ddec44ffb445b" /><Relationship Type="http://schemas.openxmlformats.org/officeDocument/2006/relationships/image" Target="/ppt/media/image14.png" Id="R99aefccb82ea43c0" /><Relationship Type="http://schemas.openxmlformats.org/officeDocument/2006/relationships/image" Target="/ppt/media/image15.png" Id="R8710b452433a4439" /><Relationship Type="http://schemas.openxmlformats.org/officeDocument/2006/relationships/notesSlide" Target="/ppt/notesSlides/notesSlide6.xml" Id="Rf086bb00fb91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5C6EA-F569-47A8-9859-B12E4C81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81400"/>
            <a:ext cx="122682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d9d61edbd4d6e"/>
          <a:srcRect xmlns:a="http://schemas.openxmlformats.org/drawingml/2006/main" l="0" t="14300" r="0" b="14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619500"/>
            <a:ext cx="12192000" cy="3238500"/>
          </a:xfrm>
          <a:prstGeom xmlns:a="http://schemas.openxmlformats.org/drawingml/2006/main" prst="round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4664F-3C1F-49F0-B50F-FD0B0567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BF5D2-B1EE-4CAD-96BB-CCF9E83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c6f708edd4250"/>
          <a:stretch xmlns:a="http://schemas.openxmlformats.org/drawingml/2006/main"/>
        </p:blipFill>
        <p:spPr>
          <a:xfrm xmlns:a="http://schemas.openxmlformats.org/drawingml/2006/main">
            <a:off x="552450" y="45720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CA7C9-9648-4017-975F-52FC2EBE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TRILUM CONECTA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D2FD-22AE-4B5F-840E-0F9E9913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90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rPr>
              <a:t>CODAY 2026.1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38821-5E24-494A-86D2-EAE46B7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Acesse o projeto</a:t>
            </a:r>
          </a:p>
          <a:p xmlns:a="http://schemas.openxmlformats.org/drawingml/2006/main">
            <a:pPr algn="l">
              <a:defRPr sz="37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completo pelo QR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D1798-4245-46E1-800E-57E1737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Projeto em deploy, contas demo, documentação visual,</a:t>
            </a:r>
          </a:p>
          <a:p xmlns:a="http://schemas.openxmlformats.org/drawingml/2006/main">
            <a:pPr algn="l">
              <a:defRPr sz="150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slide da apresentação e repositório em um só lugar.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A9EA4-89F8-488E-9770-D04D1A5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715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E59F0-1F74-470F-9F13-278136B2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Escaneie agora e explore depois da apresentação.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7CF48-730D-4849-A0D0-748ABFE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876300"/>
            <a:ext cx="3200400" cy="3905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7F584-D082-43BA-8AB8-6E3F16A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81100"/>
            <a:ext cx="25146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5316c8e29460e"/>
          <a:stretch xmlns:a="http://schemas.openxmlformats.org/drawingml/2006/main"/>
        </p:blipFill>
        <p:spPr>
          <a:xfrm xmlns:a="http://schemas.openxmlformats.org/drawingml/2006/main">
            <a:off x="8248650" y="1219200"/>
            <a:ext cx="2438400" cy="243840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C46A4-CD78-4F27-9716-30EE7593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Página pública do Coday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404B4-C470-4312-91FC-2A52DDAF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550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506F"/>
                </a:solidFill>
                <a:latin typeface="Aptos"/>
                <a:ea typeface="Aptos"/>
                <a:cs typeface="Aptos"/>
              </a:rPr>
              <a:t>jeffersonsantoskn.github.io/Trilum-Conecta/#/coday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5F846-E27B-49AF-87F3-8FD996D0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42D7A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EBE67-8484-405E-972D-B75F9789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054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7A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2D7A1"/>
                </a:solidFill>
                <a:latin typeface="Aptos Display"/>
                <a:ea typeface="Aptos Display"/>
                <a:cs typeface="Aptos Display"/>
              </a:rPr>
              <a:t>DEPLOY PÚBLICO</a:t>
            </a:r>
          </a:p>
        </p:txBody>
      </p:sp>
    </p:spTree>
    <p:extLst>
      <p:ext uri="{BB962C8B-B14F-4D97-AF65-F5344CB8AC3E}">
        <p14:creationId xmlns:p14="http://schemas.microsoft.com/office/powerpoint/2010/main" val="1819718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698D4-D273-4AFF-A370-2C5C753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1079D-8F6E-4F97-AEB2-1251DB1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Problema e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3DF0-2BEE-4E2B-8A3B-2B679DC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Dois lados da mesma jornada profissional.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F2EFE-63EA-4EC6-BFE7-EA6FD834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73"/>
          </a:solidFill>
          <a:ln xmlns:a="http://schemas.openxmlformats.org/drawingml/2006/main" w="0">
            <a:solidFill>
              <a:srgbClr val="264A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07181-1949-42F4-9EEB-0FAEE38A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rPr>
              <a:t>TRILUM CONECTA · CODAY 2026.1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B394-063E-4260-AE78-FA24280C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2197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764C2-824A-4F88-99CD-89904215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52197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735E5-B38F-41FB-AB1A-B0DB51A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706E7-5DB6-410F-853C-7167A15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ALUNO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4E41C-B6A2-4FDC-BB7E-C482AED8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Direção para transformar</a:t>
            </a:r>
          </a:p>
          <a:p xmlns:a="http://schemas.openxmlformats.org/drawingml/2006/main">
            <a:pPr algn="l">
              <a:def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estudo em oportunidade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BDF83-94B3-4917-822B-40B77DDF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476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971D6-DD72-4FA1-928B-5D49592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F2A3B-683A-4653-9B87-CAAAA5FD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15AE7-3A7D-4496-AE17-2A62EC0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57525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Por onde começar?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5D864-BDE7-4DD8-ABAB-49D9BAA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43275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O aluno precisa entender prioridades sem se perder entre cursos e stacks.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42F4D-7679-4C04-90AE-EB60F947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0F482-AF31-45E9-9EC4-F58664D4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E03A1-2CDB-47C2-A0BD-EFE67BB6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16615-53A6-4E70-BE49-F9289E9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Como provar evolução?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E6720-B7F3-4843-849E-7018BD1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24375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Perfil, currículo e candidatura ficam mais fortes quando o estudo vira evidência.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06503-F100-44CF-A750-432CFB2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8A5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E8022-8E78-4FAE-8859-2F4A295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C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A5CFF"/>
                </a:solidFill>
                <a:latin typeface="Aptos Display"/>
                <a:ea typeface="Aptos Display"/>
                <a:cs typeface="Aptos Display"/>
              </a:rPr>
              <a:t>EMPRESA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85C53-960C-422B-9606-FF158D3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Mais contexto para publicar</a:t>
            </a:r>
          </a:p>
          <a:p xmlns:a="http://schemas.openxmlformats.org/drawingml/2006/main">
            <a:pPr algn="l">
              <a:def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 avaliar com clareza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BB98B-08F2-4B6C-9E99-5E4D285A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476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11DD6-4EA1-478E-AE3A-7FAAC3C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5CFF"/>
          </a:solidFill>
          <a:ln xmlns:a="http://schemas.openxmlformats.org/drawingml/2006/main" w="9525">
            <a:solidFill>
              <a:srgbClr val="8A5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0FC9F-140E-4470-ACB0-33A4BBF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36F8B0-0ACE-4355-B5A1-8FDA578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57525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Vagas pouco claras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3D7F9-40E8-4C7E-897C-7DB8B5C1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43275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Requisitos genéricos e descrições fracas reduzem alinhamento e atratividade.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AA0A0-7028-4F3E-A30A-CD962C46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76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D684C-CFFA-4BA5-913A-E442547A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32205-D1E2-4ED7-BDFA-F9F60AB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E30F9-B048-4A9A-8B1F-FF2CF35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38625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Candidato além do currículo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98F78-8173-456F-91CA-F15ED79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24375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Cursos, projetos, perfil e evidências ajudam a interpretar pessoas em formação.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219C2-3E19-4180-AF98-D10772D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14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0CE0BC-0981-44DF-9E35-801CB992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29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A proposta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0330DC-7671-47C2-8158-252CAD81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Conectar diagnóstico, aprendizado, prática, currículo, candidatura e análise de candidatos em uma única jornada.</a:t>
            </a:r>
          </a:p>
        </p:txBody>
      </p:sp>
    </p:spTree>
    <p:extLst>
      <p:ext uri="{BB962C8B-B14F-4D97-AF65-F5344CB8AC3E}">
        <p14:creationId xmlns:p14="http://schemas.microsoft.com/office/powerpoint/2010/main" val="768214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1699CF-CD12-46A2-A974-8CF34C69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751A6-713A-4465-8205-6D9998F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Jornada do aluno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439A-3121-41CB-A40D-6C047A89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Do diagnóstico inicial à evolução profissional.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C9B3C-887C-43FA-B92D-247122D4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73"/>
          </a:solidFill>
          <a:ln xmlns:a="http://schemas.openxmlformats.org/drawingml/2006/main" w="0">
            <a:solidFill>
              <a:srgbClr val="264A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B5C36-4B1A-4484-9899-90E9007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rPr>
              <a:t>TRILUM CONECTA · CODAY 2026.1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71EF3-1EE6-4BB9-BED1-F9D1B892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3333750" cy="46863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69F4B-2EB7-4BF0-8636-04E06B3A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0670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31f07d45a4694"/>
          <a:srcRect xmlns:a="http://schemas.openxmlformats.org/drawingml/2006/main" l="11842" t="0" r="118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24000"/>
            <a:ext cx="2990850" cy="2152650"/>
          </a:xfrm>
          <a:prstGeom xmlns:a="http://schemas.openxmlformats.org/drawingml/2006/main" prst="roundRect">
            <a:avLst>
              <a:gd name="adj" fmla="val 53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09A73-7063-44BD-8FD1-6201C8F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D1F39-23C2-43FF-8986-8FBBDAC0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E22CE-5E11-4893-B06C-E14380B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Diagnóstico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0B55E-3F24-4295-8ACD-CBB4463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O wizard identifica área, nível, tecnologias, objetivo e momento atual.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651EE-2273-47F9-A89C-467B4BD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352550"/>
            <a:ext cx="3333750" cy="46863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2455A-AE75-4E1B-9287-D8FFB8E2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0670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bcdf5e8014224"/>
          <a:srcRect xmlns:a="http://schemas.openxmlformats.org/drawingml/2006/main" l="12462" t="0" r="124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524000"/>
            <a:ext cx="2990850" cy="2152650"/>
          </a:xfrm>
          <a:prstGeom xmlns:a="http://schemas.openxmlformats.org/drawingml/2006/main" prst="roundRect">
            <a:avLst>
              <a:gd name="adj" fmla="val 531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6575E-8385-464F-84E8-63161357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C0B4D-7874-4C08-BC6B-0348B47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7561B-7FC2-495A-AADE-BA7227A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Recomendações personalizadas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CF9F8-F03F-4FDA-AD2A-7E4AE1D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Trilhas, cursos e próximos passos são priorizados conforme o perfil.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9A527-4D27-4157-A78D-45C19999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52550"/>
            <a:ext cx="3333750" cy="46863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637AE-F8C5-44A1-BADA-C86BEF6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0670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d85e8e41d4472"/>
          <a:srcRect xmlns:a="http://schemas.openxmlformats.org/drawingml/2006/main" l="15358" t="0" r="153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524000"/>
            <a:ext cx="2990850" cy="2152650"/>
          </a:xfrm>
          <a:prstGeom xmlns:a="http://schemas.openxmlformats.org/drawingml/2006/main" prst="roundRect">
            <a:avLst>
              <a:gd name="adj" fmla="val 5310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CD38C-75FD-487E-A87B-5306A0B8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244B5-9E6F-41C2-9E09-309BBBE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B89A1-04F9-4AFE-B321-01955EDB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Evolução profissional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B818C-FDE0-4563-A5C8-262E8DA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Perfil, currículo, projetos e radar transformam estudo em preparação.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3BE20-FE7D-4A71-884F-A3DC33EA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AD678-8E41-4DC7-8CB2-FDC9E2E1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WIZARD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90ED2-013B-4D3A-9C31-90710B1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1971E-6619-4F14-A05F-B8442F17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245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MENTOR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FDABF-C650-486C-84B3-7070D91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15272-1520-4507-869E-7C489B2E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245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RADAR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1F594-0FB4-43E3-AA2F-F0D8B05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004A6-5F8D-432D-ACC0-E92B0ABD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5245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8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2F78FF"/>
                </a:solidFill>
                <a:latin typeface="Aptos Display"/>
                <a:ea typeface="Aptos Display"/>
                <a:cs typeface="Aptos Display"/>
              </a:rPr>
              <a:t>PROJETOS</a:t>
            </a:r>
          </a:p>
        </p:txBody>
      </p:sp>
    </p:spTree>
    <p:extLst>
      <p:ext uri="{BB962C8B-B14F-4D97-AF65-F5344CB8AC3E}">
        <p14:creationId xmlns:p14="http://schemas.microsoft.com/office/powerpoint/2010/main" val="1121806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6631A-2968-4003-B61B-08C4E20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16115-2581-4CD5-B779-F6F65C5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 recomendação à evidência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65CA3-32A8-47EC-B075-2AC473AD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Os diferenciais mais fortes do lado aluno trabalham como uma sequência.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D5D10-BB22-4F95-9B49-1CE4D246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73"/>
          </a:solidFill>
          <a:ln xmlns:a="http://schemas.openxmlformats.org/drawingml/2006/main" w="0">
            <a:solidFill>
              <a:srgbClr val="264A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B9CDA-8606-4A00-89CF-F667737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rPr>
              <a:t>TRILUM CONECTA · CODAY 2026.1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93AB9-AD12-4595-96C5-0966CDAE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17220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b2680822b4a2c"/>
          <a:srcRect xmlns:a="http://schemas.openxmlformats.org/drawingml/2006/main" l="0" t="2866" r="0" b="2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390650"/>
            <a:ext cx="6096000" cy="3105150"/>
          </a:xfrm>
          <a:prstGeom xmlns:a="http://schemas.openxmlformats.org/drawingml/2006/main" prst="roundRect">
            <a:avLst>
              <a:gd name="adj" fmla="val 490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3D8B5-FDDF-4726-B743-9621B98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038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5531D-CAD9-42FB-81C3-ABC2AC3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PAINEL + RADAR + MENTOR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E597D-CE46-4EC2-8B4F-EBBD354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29908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0246fbd2c46f7"/>
          <a:srcRect xmlns:a="http://schemas.openxmlformats.org/drawingml/2006/main" l="0" t="18331" r="0" b="18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762500"/>
            <a:ext cx="29146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A4261-C2BE-45E4-B64D-8C9CE36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24400"/>
            <a:ext cx="29908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30e8f29e1414f"/>
          <a:srcRect xmlns:a="http://schemas.openxmlformats.org/drawingml/2006/main" l="2102" t="0" r="21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4762500"/>
            <a:ext cx="29146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9BB10-E264-4059-93A2-36731ECC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4648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590FB-8E47-4E1F-8CD0-B211322F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EC6E1-8246-43BC-8E51-E997B86D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85D9-A803-4C25-A82E-1DDC2DD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335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Recomendações explicáveis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C9846-9C50-4944-A38D-6612310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1927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Regras e pesos priorizam conteúdos e vagas coerentes com o perfil.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6483C-15F1-44DD-B29F-67DB61A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4648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504FA-BD72-4F90-859E-24B498B5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solidFill>
              <a:srgbClr val="2F7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C52F2-D7A4-4A2A-A57E-B913E28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3E609-A5C7-4EAD-9011-369A1E2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955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Mentor contextual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4E17F-266F-4121-8930-9059254A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813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Orienta a tela atual e transforma resultados em próximos passos claros.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80BA1-077A-4A4A-8388-58F3F918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4648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E734E-CC28-46D6-B270-CB657B6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D7A1"/>
          </a:solidFill>
          <a:ln xmlns:a="http://schemas.openxmlformats.org/drawingml/2006/main" w="9525">
            <a:solidFill>
              <a:srgbClr val="42D7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F5B84-C0D3-448B-9921-A33651D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546D9-CEC6-4A96-913E-8C598206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576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Radar de candidatura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C4326-C950-4FD9-ABF1-96949BD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4337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Mostra pontos fortes, lacunas e a próxima melhor ação sem bloquear.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763CFD-1D32-482C-B56C-16BB69F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76800"/>
            <a:ext cx="4648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BB8E8-FA52-4832-BF3B-44097E76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5CFF"/>
          </a:solidFill>
          <a:ln xmlns:a="http://schemas.openxmlformats.org/drawingml/2006/main" w="9525">
            <a:solidFill>
              <a:srgbClr val="8A5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4F79E-3743-4D8A-9FB4-5523F9E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439FA-39F6-42D4-82E1-5FCAFE7A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196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Projetos práticos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7F34EC-2F16-4D3B-8E2F-4D6719AF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054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Conectam estudo, tecnologias, GitHub, deploy, perfil e currículo.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4078F6-2012-4A38-B4F7-AD97E432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38850"/>
            <a:ext cx="4648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23A1E-DCB6-4884-B896-CF3BC9EF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134100"/>
            <a:ext cx="434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IA melhora explicações e textos; regras e fallback mantêm o sistema confiável.</a:t>
            </a:r>
          </a:p>
        </p:txBody>
      </p:sp>
    </p:spTree>
    <p:extLst>
      <p:ext uri="{BB962C8B-B14F-4D97-AF65-F5344CB8AC3E}">
        <p14:creationId xmlns:p14="http://schemas.microsoft.com/office/powerpoint/2010/main" val="36882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6BA59-FF3F-49C3-8CF4-060E93B6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EF8B9-26F0-4701-8D1E-C381903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Jornada da empresa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6C878-7D0E-4C9A-B45A-101B12E7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Da presença institucional à análise humana apoiada por contexto.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5CFB8-9E9D-4363-9F21-36181EA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73"/>
          </a:solidFill>
          <a:ln xmlns:a="http://schemas.openxmlformats.org/drawingml/2006/main" w="0">
            <a:solidFill>
              <a:srgbClr val="264A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10250-D1E5-4237-937B-AFE01A5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A8BCD5"/>
                </a:solidFill>
                <a:latin typeface="Aptos Display"/>
                <a:ea typeface="Aptos Display"/>
                <a:cs typeface="Aptos Display"/>
              </a:rPr>
              <a:t>TRILUM CONECTA · CODAY 2026.1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2114A-9769-4B00-9B1D-4D4E8FDC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3333750" cy="4781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487F8-5911-4323-9883-D6BD9701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0670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6197db2f7465f"/>
          <a:srcRect xmlns:a="http://schemas.openxmlformats.org/drawingml/2006/main" l="20891" t="0" r="208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524000"/>
            <a:ext cx="299085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3966C-7380-401B-9D49-137F1B8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EF5EC-D814-42FA-9AEB-7BE8BD7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228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PERFIL INSTITUCIONAL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49018-C8C9-4F08-B8F7-7BD4DC4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Presença mais completa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F2601-C14D-42A1-BF17-32767DD3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Setor, stack, cultura, diferenciais e força do perfil melhoram a confiança do candidato.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EAAE9-8C9E-4B6E-A936-9D8BF9A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352550"/>
            <a:ext cx="3333750" cy="4781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3C1C7-4EAF-4286-9787-EF76FF9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0670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66dd7e9d4514"/>
          <a:srcRect xmlns:a="http://schemas.openxmlformats.org/drawingml/2006/main" l="2947" t="0" r="29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524000"/>
            <a:ext cx="299085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606B5-AB44-41C3-90ED-A6E94DC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1007D-DA90-4238-B30C-1C7CD1F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228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VAGAS MELHORES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677E7-3E5F-40C8-9A36-A311E7B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Clareza antes de publicar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A4C8A-872B-414A-9D22-07BF70F5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673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Raio-X, preview e sugestões ajudam a revisar descrição, requisitos e atratividade.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AFCF1-A150-4B22-9171-0AED3A5F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52550"/>
            <a:ext cx="3333750" cy="4781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7852A-8A6E-4CE6-815A-66B18893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0670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76bb270bb470f"/>
          <a:srcRect xmlns:a="http://schemas.openxmlformats.org/drawingml/2006/main" l="2853" t="0" r="28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524000"/>
            <a:ext cx="299085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B1F20-EFE2-40EB-89C8-4DE4FB9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1ED8A-AF68-4791-9143-42016693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2228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CANDIDATO COM CONTEXTO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E9C60-72AA-4E6A-AAE5-F7A16268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01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Evidências para decidir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134AB-1A31-4F37-B2B6-8D39EB04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Perfil, cursos, tecnologias, projetos e currículo apoiam a avaliação sem decisão automática.</a:t>
            </a:r>
          </a:p>
        </p:txBody>
      </p:sp>
    </p:spTree>
    <p:extLst>
      <p:ext uri="{BB962C8B-B14F-4D97-AF65-F5344CB8AC3E}">
        <p14:creationId xmlns:p14="http://schemas.microsoft.com/office/powerpoint/2010/main" val="20466197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B5ACE-704C-47AE-ABB2-93CE5C67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-38100"/>
            <a:ext cx="12268200" cy="693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ddec44ffb445b"/>
          <a:srcRect xmlns:a="http://schemas.openxmlformats.org/drawingml/2006/main" l="6283" t="0" r="62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1FE8E-5098-433C-BC40-697149A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AA059-0C8F-4095-810F-B8AB87F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efccb82ea43c0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25F95-71A1-4E95-B2CE-4F8D1799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Principais diferenciais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523A0-60FF-4596-BFC4-398E70E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CD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CD5"/>
                </a:solidFill>
                <a:latin typeface="Aptos"/>
                <a:ea typeface="Aptos"/>
                <a:cs typeface="Aptos"/>
              </a:rPr>
              <a:t>Um produto que conecta aprendizado, evidência e oportunidade.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46251-ABB7-4ABB-96C7-4C2512A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0A4BF-4EBA-4C70-88A6-CDF21F4D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764F7-8607-4EFF-A075-E9A8ECA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3230A-0079-4C43-A243-6840F8FF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Wizard profissional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145FA-B755-482C-8F94-1DC72ABE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621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53E91-D4D2-4E88-A875-4866CC5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00542-5196-4663-A699-97214DFE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A66E1-520A-429D-BBA3-C87CC98E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71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Recomendações explicáveis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FED72-6F6A-4A7E-B066-C0CCB66A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9725E-6CF1-4262-A20F-B96B58CC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240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756D2-A0F8-46D8-8618-D3926B28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6BE7E-39C9-4D77-8438-35C9352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Mentor contextual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8F52D-C97C-4D1F-88EC-1B814FF5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1B0B4-1601-4815-B4A2-B1D86ED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E2F01-942F-4DE2-B5DA-1B73FEE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E7E00-ABF4-4041-B8C4-E2C303E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Radar de candidatura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60055-B248-4BFB-AC02-6ED374C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31FC6-57CC-4D89-AF3B-E31C4F5C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03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523B1-D021-4CC0-95AA-A285D89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7A475-A7FE-4361-8075-ACDDF682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Projetos como evidência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6A129-228B-426B-8371-5CBF1E58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D177BC-74A4-48B4-9C7F-8D6F611C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03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4AD667-B098-4496-90E5-8E8AEBCB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12A05-85EA-4B2A-AE24-3BCF658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Currículo exportável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11618-A0BE-4F73-A189-AD121BED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1FDE1-9DAF-4249-87EF-4507E4F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D347A-F943-4F8A-88B3-A7161427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B38617-7472-44E2-99E5-B6EAFC1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Raio-X de vagas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02AB3-9C16-451C-81EB-BE6B2AE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66AADB-B215-498E-A717-743A785E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7ED72-6556-41F1-88AC-ED1DA23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364D20-BE8F-440D-BEE4-6B5050F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Dossiê do candidato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6A4FAB-13D7-47B3-8F5E-8A943A33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2419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2346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6890BC-6F36-4E63-A01F-F748174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3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DAE7EA-36C9-473E-AD5E-2B06ABD7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6235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829F79-30AE-45F5-9236-2302625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Feedback mais humano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F117B7-EFF0-4129-AB3C-71AD033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8676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983C54-AC26-4416-8380-F4763C1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O Trilum Conecta transforma estudo em direção,</a:t>
            </a:r>
          </a:p>
          <a:p xmlns:a="http://schemas.openxmlformats.org/drawingml/2006/main">
            <a:pPr algn="l">
              <a:defRPr sz="19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prática em evidência e candidatura em contexto.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2F370D-A5D2-49DF-8354-FB84D823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9D3E6"/>
                </a:solidFill>
                <a:latin typeface="Aptos Display"/>
                <a:ea typeface="Aptos Display"/>
                <a:cs typeface="Aptos Display"/>
              </a:rPr>
              <a:t>IA como apoio opcional · regras como fonte de verdade · fallback como garantia.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A30DA7-6742-47A4-A7A2-87FDE3C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71600"/>
            <a:ext cx="2571750" cy="44577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19D3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1CCD0A-01AC-4237-A5F5-9CF7993B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1981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D55"/>
          </a:solidFill>
          <a:ln xmlns:a="http://schemas.openxmlformats.org/drawingml/2006/main" w="9525">
            <a:solidFill>
              <a:srgbClr val="264A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0b452433a4439"/>
          <a:stretch xmlns:a="http://schemas.openxmlformats.org/drawingml/2006/main"/>
        </p:blipFill>
        <p:spPr>
          <a:xfrm xmlns:a="http://schemas.openxmlformats.org/drawingml/2006/main">
            <a:off x="9229725" y="1733550"/>
            <a:ext cx="1905000" cy="190500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C4D2E1-8BE3-4352-B748-FB5A400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Continue explorando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2DEE25-86F0-468B-9C4D-B79B9F2D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550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5506F"/>
                </a:solidFill>
                <a:latin typeface="Aptos"/>
                <a:ea typeface="Aptos"/>
                <a:cs typeface="Aptos"/>
              </a:rPr>
              <a:t>Projeto, contas demo,</a:t>
            </a:r>
          </a:p>
          <a:p xmlns:a="http://schemas.openxmlformats.org/drawingml/2006/main">
            <a:pPr algn="ctr">
              <a:defRPr sz="1050" b="0">
                <a:solidFill>
                  <a:srgbClr val="3550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5506F"/>
                </a:solidFill>
                <a:latin typeface="Aptos"/>
                <a:ea typeface="Aptos"/>
                <a:cs typeface="Aptos"/>
              </a:rPr>
              <a:t>documentação e repositório.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08A5DD-D8B0-4318-B57C-4C6D962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1054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42D7A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D9B13A-A472-4C6C-A228-DEFB3804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625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7A1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42D7A1"/>
                </a:solidFill>
                <a:latin typeface="Aptos Display"/>
                <a:ea typeface="Aptos Display"/>
                <a:cs typeface="Aptos Display"/>
              </a:rPr>
              <a:t>ACESSO PÚBLICO</a:t>
            </a:r>
          </a:p>
        </p:txBody>
      </p:sp>
    </p:spTree>
    <p:extLst>
      <p:ext uri="{BB962C8B-B14F-4D97-AF65-F5344CB8AC3E}">
        <p14:creationId xmlns:p14="http://schemas.microsoft.com/office/powerpoint/2010/main" val="586231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2026-06-15T09:00:03.2820000Z</dcterms:created>
  <dcterms:modified xsi:type="dcterms:W3CDTF">2026-06-15T09:00:03.2820000Z</dcterms:modified>
</coreProperties>
</file>